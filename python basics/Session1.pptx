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9144000" cy="6858000"/>
  <p:embeddedFontLst>
    <p:embeddedFont>
      <p:font typeface="Carlito" panose="020B0604020202020204" charset="0"/>
      <p:regular r:id="rId27"/>
      <p:bold r:id="rId28"/>
      <p:italic r:id="rId29"/>
      <p:boldItalic r:id="rId30"/>
    </p:embeddedFont>
    <p:embeddedFont>
      <p:font typeface="Noto Sans Symbols" panose="020B0604020202020204" charset="0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inGZOs/gSytgRiAkNKjRhZxyZi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3F17F6-D251-4F55-AD5C-F6E47C79B5C0}">
  <a:tblStyle styleId="{CE3F17F6-D251-4F55-AD5C-F6E47C79B5C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24300" y="514350"/>
            <a:ext cx="60963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obj">
  <p:cSld name="OBJECT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3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6"/>
          <p:cNvSpPr/>
          <p:nvPr/>
        </p:nvSpPr>
        <p:spPr>
          <a:xfrm>
            <a:off x="0" y="3352800"/>
            <a:ext cx="8686800" cy="2743200"/>
          </a:xfrm>
          <a:custGeom>
            <a:avLst/>
            <a:gdLst/>
            <a:ahLst/>
            <a:cxnLst/>
            <a:rect l="l" t="t" r="r" b="b"/>
            <a:pathLst>
              <a:path w="8686800" h="2743200" extrusionOk="0">
                <a:moveTo>
                  <a:pt x="8686800" y="0"/>
                </a:moveTo>
                <a:lnTo>
                  <a:pt x="0" y="0"/>
                </a:lnTo>
                <a:lnTo>
                  <a:pt x="0" y="2743200"/>
                </a:lnTo>
                <a:lnTo>
                  <a:pt x="8686800" y="2743200"/>
                </a:lnTo>
                <a:lnTo>
                  <a:pt x="8686800" y="0"/>
                </a:lnTo>
                <a:close/>
              </a:path>
            </a:pathLst>
          </a:custGeom>
          <a:solidFill>
            <a:srgbClr val="0F114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" name="Google Shape;24;p26"/>
          <p:cNvSpPr/>
          <p:nvPr/>
        </p:nvSpPr>
        <p:spPr>
          <a:xfrm>
            <a:off x="28956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 extrusionOk="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26"/>
          <p:cNvSpPr/>
          <p:nvPr/>
        </p:nvSpPr>
        <p:spPr>
          <a:xfrm>
            <a:off x="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 extrusionOk="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" name="Google Shape;26;p26"/>
          <p:cNvSpPr/>
          <p:nvPr/>
        </p:nvSpPr>
        <p:spPr>
          <a:xfrm>
            <a:off x="5791200" y="6096000"/>
            <a:ext cx="2895600" cy="76200"/>
          </a:xfrm>
          <a:custGeom>
            <a:avLst/>
            <a:gdLst/>
            <a:ahLst/>
            <a:cxnLst/>
            <a:rect l="l" t="t" r="r" b="b"/>
            <a:pathLst>
              <a:path w="2895600" h="76200" extrusionOk="0">
                <a:moveTo>
                  <a:pt x="2895600" y="0"/>
                </a:moveTo>
                <a:lnTo>
                  <a:pt x="0" y="0"/>
                </a:lnTo>
                <a:lnTo>
                  <a:pt x="0" y="76200"/>
                </a:lnTo>
                <a:lnTo>
                  <a:pt x="2895600" y="76200"/>
                </a:lnTo>
                <a:lnTo>
                  <a:pt x="28956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27" name="Google Shape;2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3352800"/>
            <a:ext cx="2057400" cy="1979676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6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3189" lvl="0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3189" lvl="1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189" lvl="2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3189" lvl="3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3189" lvl="4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3189" lvl="5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3189" lvl="6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3189" lvl="7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3189" lvl="8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3189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7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006FC0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body" idx="1"/>
          </p:nvPr>
        </p:nvSpPr>
        <p:spPr>
          <a:xfrm>
            <a:off x="4424553" y="3128213"/>
            <a:ext cx="4104004" cy="155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rgbClr val="006FC0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3189" lvl="0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3189" lvl="1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189" lvl="2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3189" lvl="3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3189" lvl="4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3189" lvl="5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3189" lvl="6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3189" lvl="7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3189" lvl="8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3189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8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006FC0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body" idx="1"/>
          </p:nvPr>
        </p:nvSpPr>
        <p:spPr>
          <a:xfrm>
            <a:off x="459740" y="1472945"/>
            <a:ext cx="3348354" cy="456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3189" lvl="0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3189" lvl="1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189" lvl="2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3189" lvl="3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3189" lvl="4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3189" lvl="5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3189" lvl="6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3189" lvl="7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3189" lvl="8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3189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9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006FC0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3189" lvl="0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3189" lvl="1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189" lvl="2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3189" lvl="3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3189" lvl="4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3189" lvl="5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3189" lvl="6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3189" lvl="7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3189" lvl="8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3189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>
                <a:solidFill>
                  <a:srgbClr val="006FC0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>
                <a:solidFill>
                  <a:srgbClr val="006FC0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0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3189" lvl="0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3189" lvl="1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189" lvl="2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3189" lvl="3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3189" lvl="4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3189" lvl="5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3189" lvl="6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3189" lvl="7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3189" lvl="8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3189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/>
          <p:nvPr/>
        </p:nvSpPr>
        <p:spPr>
          <a:xfrm>
            <a:off x="4629911" y="6550152"/>
            <a:ext cx="2329180" cy="48895"/>
          </a:xfrm>
          <a:custGeom>
            <a:avLst/>
            <a:gdLst/>
            <a:ahLst/>
            <a:cxnLst/>
            <a:rect l="l" t="t" r="r" b="b"/>
            <a:pathLst>
              <a:path w="2329179" h="48895" extrusionOk="0">
                <a:moveTo>
                  <a:pt x="2328672" y="0"/>
                </a:moveTo>
                <a:lnTo>
                  <a:pt x="0" y="0"/>
                </a:lnTo>
                <a:lnTo>
                  <a:pt x="0" y="48768"/>
                </a:lnTo>
                <a:lnTo>
                  <a:pt x="2328672" y="48768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" name="Google Shape;7;p25"/>
          <p:cNvSpPr/>
          <p:nvPr/>
        </p:nvSpPr>
        <p:spPr>
          <a:xfrm>
            <a:off x="6908292" y="6550152"/>
            <a:ext cx="2235835" cy="45720"/>
          </a:xfrm>
          <a:custGeom>
            <a:avLst/>
            <a:gdLst/>
            <a:ahLst/>
            <a:cxnLst/>
            <a:rect l="l" t="t" r="r" b="b"/>
            <a:pathLst>
              <a:path w="2235834" h="45720" extrusionOk="0">
                <a:moveTo>
                  <a:pt x="2235707" y="0"/>
                </a:moveTo>
                <a:lnTo>
                  <a:pt x="0" y="0"/>
                </a:lnTo>
                <a:lnTo>
                  <a:pt x="0" y="45720"/>
                </a:lnTo>
                <a:lnTo>
                  <a:pt x="2235707" y="45720"/>
                </a:lnTo>
                <a:lnTo>
                  <a:pt x="2235707" y="0"/>
                </a:lnTo>
                <a:close/>
              </a:path>
            </a:pathLst>
          </a:custGeom>
          <a:solidFill>
            <a:srgbClr val="E21C23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8" name="Google Shape;8;p25"/>
          <p:cNvSpPr/>
          <p:nvPr/>
        </p:nvSpPr>
        <p:spPr>
          <a:xfrm>
            <a:off x="2083307" y="6550152"/>
            <a:ext cx="2581910" cy="48895"/>
          </a:xfrm>
          <a:custGeom>
            <a:avLst/>
            <a:gdLst/>
            <a:ahLst/>
            <a:cxnLst/>
            <a:rect l="l" t="t" r="r" b="b"/>
            <a:pathLst>
              <a:path w="2581910" h="48895" extrusionOk="0">
                <a:moveTo>
                  <a:pt x="2581656" y="0"/>
                </a:moveTo>
                <a:lnTo>
                  <a:pt x="0" y="0"/>
                </a:lnTo>
                <a:lnTo>
                  <a:pt x="0" y="48768"/>
                </a:lnTo>
                <a:lnTo>
                  <a:pt x="2581656" y="48768"/>
                </a:lnTo>
                <a:lnTo>
                  <a:pt x="2581656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" name="Google Shape;9;p25"/>
          <p:cNvSpPr/>
          <p:nvPr/>
        </p:nvSpPr>
        <p:spPr>
          <a:xfrm>
            <a:off x="4495800" y="6557772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 extrusionOk="0">
                <a:moveTo>
                  <a:pt x="2328672" y="0"/>
                </a:moveTo>
                <a:lnTo>
                  <a:pt x="0" y="0"/>
                </a:lnTo>
                <a:lnTo>
                  <a:pt x="0" y="45719"/>
                </a:lnTo>
                <a:lnTo>
                  <a:pt x="2328672" y="45719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" name="Google Shape;10;p25"/>
          <p:cNvSpPr/>
          <p:nvPr/>
        </p:nvSpPr>
        <p:spPr>
          <a:xfrm>
            <a:off x="2133599" y="6557772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20" extrusionOk="0">
                <a:moveTo>
                  <a:pt x="2362200" y="0"/>
                </a:moveTo>
                <a:lnTo>
                  <a:pt x="0" y="0"/>
                </a:lnTo>
                <a:lnTo>
                  <a:pt x="0" y="45719"/>
                </a:lnTo>
                <a:lnTo>
                  <a:pt x="2362200" y="45719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" name="Google Shape;11;p25"/>
          <p:cNvSpPr/>
          <p:nvPr/>
        </p:nvSpPr>
        <p:spPr>
          <a:xfrm>
            <a:off x="6815327" y="6557772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20" extrusionOk="0">
                <a:moveTo>
                  <a:pt x="2328672" y="0"/>
                </a:moveTo>
                <a:lnTo>
                  <a:pt x="0" y="0"/>
                </a:lnTo>
                <a:lnTo>
                  <a:pt x="0" y="45719"/>
                </a:lnTo>
                <a:lnTo>
                  <a:pt x="2328672" y="45719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2" name="Google Shape;12;p2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29400" y="0"/>
            <a:ext cx="2193036" cy="69342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5"/>
          <p:cNvSpPr/>
          <p:nvPr/>
        </p:nvSpPr>
        <p:spPr>
          <a:xfrm>
            <a:off x="2362200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 extrusionOk="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76C2E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" name="Google Shape;14;p25"/>
          <p:cNvSpPr/>
          <p:nvPr/>
        </p:nvSpPr>
        <p:spPr>
          <a:xfrm>
            <a:off x="0" y="1295400"/>
            <a:ext cx="2362200" cy="45720"/>
          </a:xfrm>
          <a:custGeom>
            <a:avLst/>
            <a:gdLst/>
            <a:ahLst/>
            <a:cxnLst/>
            <a:rect l="l" t="t" r="r" b="b"/>
            <a:pathLst>
              <a:path w="2362200" h="45719" extrusionOk="0">
                <a:moveTo>
                  <a:pt x="2362200" y="0"/>
                </a:moveTo>
                <a:lnTo>
                  <a:pt x="0" y="0"/>
                </a:lnTo>
                <a:lnTo>
                  <a:pt x="0" y="45720"/>
                </a:lnTo>
                <a:lnTo>
                  <a:pt x="2362200" y="45720"/>
                </a:lnTo>
                <a:lnTo>
                  <a:pt x="2362200" y="0"/>
                </a:lnTo>
                <a:close/>
              </a:path>
            </a:pathLst>
          </a:custGeom>
          <a:solidFill>
            <a:srgbClr val="FBAF17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Google Shape;15;p25"/>
          <p:cNvSpPr/>
          <p:nvPr/>
        </p:nvSpPr>
        <p:spPr>
          <a:xfrm>
            <a:off x="4681728" y="1295400"/>
            <a:ext cx="2329180" cy="45720"/>
          </a:xfrm>
          <a:custGeom>
            <a:avLst/>
            <a:gdLst/>
            <a:ahLst/>
            <a:cxnLst/>
            <a:rect l="l" t="t" r="r" b="b"/>
            <a:pathLst>
              <a:path w="2329179" h="45719" extrusionOk="0">
                <a:moveTo>
                  <a:pt x="2328672" y="0"/>
                </a:moveTo>
                <a:lnTo>
                  <a:pt x="0" y="0"/>
                </a:lnTo>
                <a:lnTo>
                  <a:pt x="0" y="45720"/>
                </a:lnTo>
                <a:lnTo>
                  <a:pt x="2328672" y="45720"/>
                </a:lnTo>
                <a:lnTo>
                  <a:pt x="2328672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6" name="Google Shape;16;p25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0" i="0" u="none" strike="noStrike" cap="none">
                <a:solidFill>
                  <a:srgbClr val="006FC0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body" idx="1"/>
          </p:nvPr>
        </p:nvSpPr>
        <p:spPr>
          <a:xfrm>
            <a:off x="4424553" y="3128213"/>
            <a:ext cx="4104004" cy="155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006FC0"/>
                </a:solidFill>
                <a:latin typeface="Carlito"/>
                <a:ea typeface="Carlito"/>
                <a:cs typeface="Carlito"/>
                <a:sym typeface="Carlito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>
                <a:solidFill>
                  <a:srgbClr val="0F114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123189" lvl="0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3189" lvl="1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23189" lvl="2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23189" lvl="3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23189" lvl="4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123189" lvl="5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123189" lvl="6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23189" lvl="7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23189" lvl="8" indent="0">
              <a:lnSpc>
                <a:spcPct val="118750"/>
              </a:lnSpc>
              <a:spcBef>
                <a:spcPts val="0"/>
              </a:spcBef>
              <a:buNone/>
              <a:defRPr sz="1200" b="0" i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23189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pypl.github.io/PYPL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anaconda.com/anaconda/install/windows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hyperlink" Target="mailto:radhika.richy@wilp.bits-pilani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"/>
          <p:cNvSpPr txBox="1"/>
          <p:nvPr/>
        </p:nvSpPr>
        <p:spPr>
          <a:xfrm>
            <a:off x="212445" y="5218595"/>
            <a:ext cx="1663064" cy="68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5550" rIns="0" bIns="0" anchor="t" anchorCtr="0">
            <a:spAutoFit/>
          </a:bodyPr>
          <a:lstStyle/>
          <a:p>
            <a:pPr marL="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</a:t>
            </a:r>
            <a:endParaRPr sz="2900">
              <a:latin typeface="Arial"/>
              <a:ea typeface="Arial"/>
              <a:cs typeface="Arial"/>
              <a:sym typeface="Arial"/>
            </a:endParaRPr>
          </a:p>
          <a:p>
            <a:pPr marL="0" marR="2540" lvl="0" indent="0" algn="ctr" rtl="0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Pilani|Dubai|Goa|Hyderabad</a:t>
            </a:r>
            <a:endParaRPr sz="9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2312797" y="3867429"/>
            <a:ext cx="5996400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928368" marR="5080" lvl="0" indent="-928368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AF50"/>
                </a:solidFill>
                <a:latin typeface="Arial"/>
                <a:ea typeface="Arial"/>
                <a:cs typeface="Arial"/>
                <a:sym typeface="Arial"/>
              </a:rPr>
              <a:t>Introduction to Python for Data Science </a:t>
            </a:r>
            <a:endParaRPr sz="2800" b="1">
              <a:solidFill>
                <a:srgbClr val="00AF5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28369" marR="5080" lvl="0" indent="-928369" algn="l" rtl="0">
              <a:lnSpc>
                <a:spcPct val="118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FBD4B5"/>
                </a:solidFill>
              </a:rPr>
              <a:t>Section 1 - Non-Specific M.Tech AIML	</a:t>
            </a:r>
            <a:r>
              <a:rPr lang="en-US" sz="2800" b="1">
                <a:solidFill>
                  <a:srgbClr val="FBD4B5"/>
                </a:solidFill>
              </a:rPr>
              <a:t>			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4680155" y="5577027"/>
            <a:ext cx="3926635" cy="505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Sameera K. M.</a:t>
            </a:r>
            <a:endParaRPr sz="3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8954261" y="6415532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"/>
          <p:cNvSpPr txBox="1"/>
          <p:nvPr/>
        </p:nvSpPr>
        <p:spPr>
          <a:xfrm>
            <a:off x="307340" y="1387856"/>
            <a:ext cx="5815330" cy="4472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42265" lvl="0" indent="-3295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Ground Rules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265" lvl="0" indent="-3295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Times New Roman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Introduction to </a:t>
            </a: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DSECLPFDS / AIMLCPFDS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70585" lvl="1" indent="-4572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Motivation &amp; Objective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70585" lvl="1" indent="-45720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Courseware, LMS Walkthrough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70585" lvl="1" indent="-4572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Books &amp; Evaluation components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70585" lvl="1" indent="-4572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Courier New"/>
              <a:buChar char="o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Pedagogy for this course 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265" lvl="0" indent="-3295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Times New Roman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Course Schedule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265" lvl="0" indent="-3295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Times New Roman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Getting started with Module 1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265" lvl="0" indent="-3295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Times New Roman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3020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Times New Roman"/>
              <a:buAutoNum type="arabicParenR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Feedback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2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3150" rIns="0" bIns="0" anchor="t" anchorCtr="0">
            <a:spAutoFit/>
          </a:bodyPr>
          <a:lstStyle/>
          <a:p>
            <a:pPr marL="1339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Agenda for CS #1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" name="Google Shape;69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69377" y="2968751"/>
            <a:ext cx="546969" cy="533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0" name="Google Shape;70;p2"/>
          <p:cNvGrpSpPr/>
          <p:nvPr/>
        </p:nvGrpSpPr>
        <p:grpSpPr>
          <a:xfrm>
            <a:off x="6551490" y="2249377"/>
            <a:ext cx="349403" cy="1764885"/>
            <a:chOff x="6551490" y="2249377"/>
            <a:chExt cx="349403" cy="1764885"/>
          </a:xfrm>
        </p:grpSpPr>
        <p:pic>
          <p:nvPicPr>
            <p:cNvPr id="71" name="Google Shape;71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551490" y="2249377"/>
              <a:ext cx="349403" cy="17648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2" name="Google Shape;72;p2"/>
            <p:cNvSpPr/>
            <p:nvPr/>
          </p:nvSpPr>
          <p:spPr>
            <a:xfrm>
              <a:off x="6584441" y="2276094"/>
              <a:ext cx="274320" cy="1676400"/>
            </a:xfrm>
            <a:custGeom>
              <a:avLst/>
              <a:gdLst/>
              <a:ahLst/>
              <a:cxnLst/>
              <a:rect l="l" t="t" r="r" b="b"/>
              <a:pathLst>
                <a:path w="274320" h="1676400" extrusionOk="0">
                  <a:moveTo>
                    <a:pt x="0" y="0"/>
                  </a:moveTo>
                  <a:lnTo>
                    <a:pt x="53363" y="6486"/>
                  </a:lnTo>
                  <a:lnTo>
                    <a:pt x="96964" y="24177"/>
                  </a:lnTo>
                  <a:lnTo>
                    <a:pt x="126372" y="50417"/>
                  </a:lnTo>
                  <a:lnTo>
                    <a:pt x="137159" y="82550"/>
                  </a:lnTo>
                  <a:lnTo>
                    <a:pt x="137159" y="776477"/>
                  </a:lnTo>
                  <a:lnTo>
                    <a:pt x="147947" y="808610"/>
                  </a:lnTo>
                  <a:lnTo>
                    <a:pt x="177355" y="834850"/>
                  </a:lnTo>
                  <a:lnTo>
                    <a:pt x="220956" y="852541"/>
                  </a:lnTo>
                  <a:lnTo>
                    <a:pt x="274319" y="859027"/>
                  </a:lnTo>
                  <a:lnTo>
                    <a:pt x="220956" y="865514"/>
                  </a:lnTo>
                  <a:lnTo>
                    <a:pt x="177355" y="883205"/>
                  </a:lnTo>
                  <a:lnTo>
                    <a:pt x="147947" y="909445"/>
                  </a:lnTo>
                  <a:lnTo>
                    <a:pt x="137159" y="941577"/>
                  </a:lnTo>
                  <a:lnTo>
                    <a:pt x="137159" y="1593849"/>
                  </a:lnTo>
                  <a:lnTo>
                    <a:pt x="126372" y="1625982"/>
                  </a:lnTo>
                  <a:lnTo>
                    <a:pt x="96964" y="1652222"/>
                  </a:lnTo>
                  <a:lnTo>
                    <a:pt x="53363" y="1669913"/>
                  </a:lnTo>
                  <a:lnTo>
                    <a:pt x="0" y="1676399"/>
                  </a:lnTo>
                </a:path>
              </a:pathLst>
            </a:custGeom>
            <a:noFill/>
            <a:ln w="25375" cap="flat" cmpd="sng">
              <a:solidFill>
                <a:srgbClr val="4F81B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73" name="Google Shape;73;p2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3189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4" name="Google Shape;74;p2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/>
        </p:nvSpPr>
        <p:spPr>
          <a:xfrm>
            <a:off x="231140" y="1492123"/>
            <a:ext cx="8296909" cy="3056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Mentally present – Observe!! Listen!!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Keep your questions for the Q&amp;A section / Discussion Forum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 the Discussion Forum in LMS Portal effectively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Do not post unrelated messages in MS Teams. React using the “Like” feature if your intended message has already been posted.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Solve the exercises regularly! Connect!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Go that “extra mile”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☺</a:t>
            </a:r>
            <a:endParaRPr sz="2400"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sp>
        <p:nvSpPr>
          <p:cNvPr id="80" name="Google Shape;80;p3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296862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Ground Rules!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" name="Google Shape;8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49909" y="4629362"/>
            <a:ext cx="1931877" cy="159838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3189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"/>
          <p:cNvSpPr txBox="1"/>
          <p:nvPr/>
        </p:nvSpPr>
        <p:spPr>
          <a:xfrm>
            <a:off x="272592" y="1397631"/>
            <a:ext cx="8601075" cy="295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0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As of now, Python is one of the most widely used programming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languages in the Data Science field.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Scientists just love Python!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Python is easy to learn &amp; has a great community for support!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We would use Python for all the assignments / case-studies (For all the subjects in MTech DSE / MTech AIML).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4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Motivation for this course ?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24400" y="2819400"/>
            <a:ext cx="21793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3189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2" name="Google Shape;92;p4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"/>
          <p:cNvSpPr txBox="1"/>
          <p:nvPr/>
        </p:nvSpPr>
        <p:spPr>
          <a:xfrm>
            <a:off x="231140" y="1473073"/>
            <a:ext cx="7726680" cy="2147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this course about 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Introduce the fundamental programming concepts of Python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Enable you to solve data problems using Python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127635" lvl="0" indent="-34290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Act	as	a	kick-start	/	bridge	for	participants	of	the DSE/AIML programme who are </a:t>
            </a:r>
            <a:r>
              <a:rPr lang="en-US" sz="2400" b="1" i="1">
                <a:latin typeface="Times New Roman"/>
                <a:ea typeface="Times New Roman"/>
                <a:cs typeface="Times New Roman"/>
                <a:sym typeface="Times New Roman"/>
              </a:rPr>
              <a:t>new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Python.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3189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9" name="Google Shape;99;p5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100" name="Google Shape;100;p5"/>
          <p:cNvSpPr txBox="1"/>
          <p:nvPr/>
        </p:nvSpPr>
        <p:spPr>
          <a:xfrm>
            <a:off x="8029193" y="2863722"/>
            <a:ext cx="88455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MTech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5"/>
          <p:cNvSpPr txBox="1"/>
          <p:nvPr/>
        </p:nvSpPr>
        <p:spPr>
          <a:xfrm>
            <a:off x="231140" y="4034408"/>
            <a:ext cx="8679815" cy="1708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this course </a:t>
            </a:r>
            <a:r>
              <a:rPr lang="en-US" sz="2400" i="1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24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Comprehensive, in-depth discussion about Python programming.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Comprehensive,	in-depth	discussion	about	data	analysis	using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Python and related packages, libraries, and tools.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5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Course Objectives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"/>
          <p:cNvSpPr txBox="1"/>
          <p:nvPr/>
        </p:nvSpPr>
        <p:spPr>
          <a:xfrm>
            <a:off x="383540" y="1521079"/>
            <a:ext cx="3171825" cy="269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1600"/>
              <a:buFont typeface="Noto Sans Symbols"/>
              <a:buChar char="⮚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Available on canvas (Home page).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Courseware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5313" y="1856232"/>
            <a:ext cx="6900137" cy="4427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3189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11" name="Google Shape;111;p6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228092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Text Books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420116" y="4655946"/>
            <a:ext cx="391795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702945" marR="5080" lvl="0" indent="-6908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Charles Severance: Python for Everybody, Exploring Data in Python 3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1601724"/>
            <a:ext cx="2310383" cy="2970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0" y="1595627"/>
            <a:ext cx="2209800" cy="290017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 txBox="1"/>
          <p:nvPr/>
        </p:nvSpPr>
        <p:spPr>
          <a:xfrm>
            <a:off x="4706873" y="4686680"/>
            <a:ext cx="3538854" cy="57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Jake VanderPlas: Python Data Science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7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Handbook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8954261" y="6191005"/>
            <a:ext cx="110489" cy="19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487172" y="6249235"/>
            <a:ext cx="8146415" cy="250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4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u="sng">
                <a:latin typeface="Times New Roman"/>
                <a:ea typeface="Times New Roman"/>
                <a:cs typeface="Times New Roman"/>
                <a:sym typeface="Times New Roman"/>
              </a:rPr>
              <a:t>Note</a:t>
            </a:r>
            <a:r>
              <a:rPr lang="en-US" sz="1600" i="1" u="none">
                <a:latin typeface="Times New Roman"/>
                <a:ea typeface="Times New Roman"/>
                <a:cs typeface="Times New Roman"/>
                <a:sym typeface="Times New Roman"/>
              </a:rPr>
              <a:t>: These are the prescribed ones. Please feel free to explore any Python materials that suits you.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7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124" name="Google Shape;124;p7"/>
          <p:cNvSpPr txBox="1"/>
          <p:nvPr/>
        </p:nvSpPr>
        <p:spPr>
          <a:xfrm>
            <a:off x="300939" y="5359704"/>
            <a:ext cx="8537575" cy="84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635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eBooks of both are made available in Canvas (Course </a:t>
            </a: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Files </a:t>
            </a:r>
            <a:r>
              <a:rPr lang="en-US" sz="1800"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Books).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50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Do not publish these on the Internet. For our use, we have got permission from the authors to use the eBook.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8"/>
          <p:cNvSpPr txBox="1"/>
          <p:nvPr/>
        </p:nvSpPr>
        <p:spPr>
          <a:xfrm>
            <a:off x="231140" y="1397631"/>
            <a:ext cx="8759190" cy="280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0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This course is </a:t>
            </a: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evaluated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!!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You will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have any exams for this course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☺</a:t>
            </a:r>
            <a:endParaRPr sz="2400">
              <a:latin typeface="Noto Sans Symbols"/>
              <a:ea typeface="Noto Sans Symbols"/>
              <a:cs typeface="Noto Sans Symbols"/>
              <a:sym typeface="Noto Sans Symbols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Nevertheless, there would be some exercises for you to try and hone your skills: </a:t>
            </a: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[No need to submit].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These will be on Canvas so you get accustomed to the Canvas LMS.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There will be “Assignments”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Noto Sans Symbols"/>
              <a:buChar char="⮚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There will be “Quizzes”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8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3189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31" name="Google Shape;131;p8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132" name="Google Shape;132;p8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880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Components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9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Pedagogy for this Course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9"/>
          <p:cNvSpPr txBox="1"/>
          <p:nvPr/>
        </p:nvSpPr>
        <p:spPr>
          <a:xfrm>
            <a:off x="8954261" y="6176568"/>
            <a:ext cx="110489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9" name="Google Shape;139;p9"/>
          <p:cNvGrpSpPr/>
          <p:nvPr/>
        </p:nvGrpSpPr>
        <p:grpSpPr>
          <a:xfrm>
            <a:off x="97520" y="1787637"/>
            <a:ext cx="2738658" cy="2967255"/>
            <a:chOff x="97520" y="1787637"/>
            <a:chExt cx="2738658" cy="2967255"/>
          </a:xfrm>
        </p:grpSpPr>
        <p:pic>
          <p:nvPicPr>
            <p:cNvPr id="140" name="Google Shape;140;p9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97520" y="1787637"/>
              <a:ext cx="2738658" cy="29672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9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45008" y="2202179"/>
              <a:ext cx="2049780" cy="22067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2" name="Google Shape;142;p9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5635" y="1805939"/>
              <a:ext cx="2667000" cy="28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3" name="Google Shape;143;p9"/>
            <p:cNvSpPr/>
            <p:nvPr/>
          </p:nvSpPr>
          <p:spPr>
            <a:xfrm>
              <a:off x="135635" y="1805939"/>
              <a:ext cx="2667000" cy="2895600"/>
            </a:xfrm>
            <a:custGeom>
              <a:avLst/>
              <a:gdLst/>
              <a:ahLst/>
              <a:cxnLst/>
              <a:rect l="l" t="t" r="r" b="b"/>
              <a:pathLst>
                <a:path w="2667000" h="2895600" extrusionOk="0">
                  <a:moveTo>
                    <a:pt x="0" y="1447800"/>
                  </a:moveTo>
                  <a:lnTo>
                    <a:pt x="773" y="1398027"/>
                  </a:lnTo>
                  <a:lnTo>
                    <a:pt x="3076" y="1348675"/>
                  </a:lnTo>
                  <a:lnTo>
                    <a:pt x="6884" y="1299771"/>
                  </a:lnTo>
                  <a:lnTo>
                    <a:pt x="12173" y="1251343"/>
                  </a:lnTo>
                  <a:lnTo>
                    <a:pt x="18917" y="1203416"/>
                  </a:lnTo>
                  <a:lnTo>
                    <a:pt x="27091" y="1156019"/>
                  </a:lnTo>
                  <a:lnTo>
                    <a:pt x="36672" y="1109178"/>
                  </a:lnTo>
                  <a:lnTo>
                    <a:pt x="47633" y="1062919"/>
                  </a:lnTo>
                  <a:lnTo>
                    <a:pt x="59951" y="1017270"/>
                  </a:lnTo>
                  <a:lnTo>
                    <a:pt x="73600" y="972258"/>
                  </a:lnTo>
                  <a:lnTo>
                    <a:pt x="88555" y="927910"/>
                  </a:lnTo>
                  <a:lnTo>
                    <a:pt x="104792" y="884253"/>
                  </a:lnTo>
                  <a:lnTo>
                    <a:pt x="122286" y="841313"/>
                  </a:lnTo>
                  <a:lnTo>
                    <a:pt x="141012" y="799118"/>
                  </a:lnTo>
                  <a:lnTo>
                    <a:pt x="160945" y="757695"/>
                  </a:lnTo>
                  <a:lnTo>
                    <a:pt x="182061" y="717070"/>
                  </a:lnTo>
                  <a:lnTo>
                    <a:pt x="204334" y="677270"/>
                  </a:lnTo>
                  <a:lnTo>
                    <a:pt x="227740" y="638323"/>
                  </a:lnTo>
                  <a:lnTo>
                    <a:pt x="252254" y="600256"/>
                  </a:lnTo>
                  <a:lnTo>
                    <a:pt x="277851" y="563095"/>
                  </a:lnTo>
                  <a:lnTo>
                    <a:pt x="304506" y="526867"/>
                  </a:lnTo>
                  <a:lnTo>
                    <a:pt x="332194" y="491599"/>
                  </a:lnTo>
                  <a:lnTo>
                    <a:pt x="360891" y="457319"/>
                  </a:lnTo>
                  <a:lnTo>
                    <a:pt x="390572" y="424052"/>
                  </a:lnTo>
                  <a:lnTo>
                    <a:pt x="421212" y="391827"/>
                  </a:lnTo>
                  <a:lnTo>
                    <a:pt x="452786" y="360670"/>
                  </a:lnTo>
                  <a:lnTo>
                    <a:pt x="485269" y="330609"/>
                  </a:lnTo>
                  <a:lnTo>
                    <a:pt x="518637" y="301669"/>
                  </a:lnTo>
                  <a:lnTo>
                    <a:pt x="552864" y="273878"/>
                  </a:lnTo>
                  <a:lnTo>
                    <a:pt x="587926" y="247263"/>
                  </a:lnTo>
                  <a:lnTo>
                    <a:pt x="623799" y="221850"/>
                  </a:lnTo>
                  <a:lnTo>
                    <a:pt x="660456" y="197668"/>
                  </a:lnTo>
                  <a:lnTo>
                    <a:pt x="697874" y="174742"/>
                  </a:lnTo>
                  <a:lnTo>
                    <a:pt x="736027" y="153100"/>
                  </a:lnTo>
                  <a:lnTo>
                    <a:pt x="774891" y="132769"/>
                  </a:lnTo>
                  <a:lnTo>
                    <a:pt x="814441" y="113776"/>
                  </a:lnTo>
                  <a:lnTo>
                    <a:pt x="854651" y="96147"/>
                  </a:lnTo>
                  <a:lnTo>
                    <a:pt x="895498" y="79909"/>
                  </a:lnTo>
                  <a:lnTo>
                    <a:pt x="936957" y="65090"/>
                  </a:lnTo>
                  <a:lnTo>
                    <a:pt x="979002" y="51717"/>
                  </a:lnTo>
                  <a:lnTo>
                    <a:pt x="1021609" y="39816"/>
                  </a:lnTo>
                  <a:lnTo>
                    <a:pt x="1064752" y="29414"/>
                  </a:lnTo>
                  <a:lnTo>
                    <a:pt x="1108408" y="20538"/>
                  </a:lnTo>
                  <a:lnTo>
                    <a:pt x="1152551" y="13216"/>
                  </a:lnTo>
                  <a:lnTo>
                    <a:pt x="1197157" y="7474"/>
                  </a:lnTo>
                  <a:lnTo>
                    <a:pt x="1242200" y="3340"/>
                  </a:lnTo>
                  <a:lnTo>
                    <a:pt x="1287656" y="839"/>
                  </a:lnTo>
                  <a:lnTo>
                    <a:pt x="1333500" y="0"/>
                  </a:lnTo>
                  <a:lnTo>
                    <a:pt x="1379343" y="839"/>
                  </a:lnTo>
                  <a:lnTo>
                    <a:pt x="1424799" y="3340"/>
                  </a:lnTo>
                  <a:lnTo>
                    <a:pt x="1469842" y="7474"/>
                  </a:lnTo>
                  <a:lnTo>
                    <a:pt x="1514448" y="13216"/>
                  </a:lnTo>
                  <a:lnTo>
                    <a:pt x="1558591" y="20538"/>
                  </a:lnTo>
                  <a:lnTo>
                    <a:pt x="1602247" y="29414"/>
                  </a:lnTo>
                  <a:lnTo>
                    <a:pt x="1645390" y="39816"/>
                  </a:lnTo>
                  <a:lnTo>
                    <a:pt x="1687997" y="51717"/>
                  </a:lnTo>
                  <a:lnTo>
                    <a:pt x="1730042" y="65090"/>
                  </a:lnTo>
                  <a:lnTo>
                    <a:pt x="1771501" y="79909"/>
                  </a:lnTo>
                  <a:lnTo>
                    <a:pt x="1812348" y="96147"/>
                  </a:lnTo>
                  <a:lnTo>
                    <a:pt x="1852558" y="113776"/>
                  </a:lnTo>
                  <a:lnTo>
                    <a:pt x="1892108" y="132769"/>
                  </a:lnTo>
                  <a:lnTo>
                    <a:pt x="1930972" y="153100"/>
                  </a:lnTo>
                  <a:lnTo>
                    <a:pt x="1969125" y="174742"/>
                  </a:lnTo>
                  <a:lnTo>
                    <a:pt x="2006543" y="197668"/>
                  </a:lnTo>
                  <a:lnTo>
                    <a:pt x="2043200" y="221850"/>
                  </a:lnTo>
                  <a:lnTo>
                    <a:pt x="2079073" y="247263"/>
                  </a:lnTo>
                  <a:lnTo>
                    <a:pt x="2114135" y="273878"/>
                  </a:lnTo>
                  <a:lnTo>
                    <a:pt x="2148362" y="301669"/>
                  </a:lnTo>
                  <a:lnTo>
                    <a:pt x="2181730" y="330609"/>
                  </a:lnTo>
                  <a:lnTo>
                    <a:pt x="2214213" y="360670"/>
                  </a:lnTo>
                  <a:lnTo>
                    <a:pt x="2245787" y="391827"/>
                  </a:lnTo>
                  <a:lnTo>
                    <a:pt x="2276427" y="424052"/>
                  </a:lnTo>
                  <a:lnTo>
                    <a:pt x="2306108" y="457319"/>
                  </a:lnTo>
                  <a:lnTo>
                    <a:pt x="2334805" y="491599"/>
                  </a:lnTo>
                  <a:lnTo>
                    <a:pt x="2362493" y="526867"/>
                  </a:lnTo>
                  <a:lnTo>
                    <a:pt x="2389148" y="563095"/>
                  </a:lnTo>
                  <a:lnTo>
                    <a:pt x="2414745" y="600256"/>
                  </a:lnTo>
                  <a:lnTo>
                    <a:pt x="2439259" y="638323"/>
                  </a:lnTo>
                  <a:lnTo>
                    <a:pt x="2462665" y="677270"/>
                  </a:lnTo>
                  <a:lnTo>
                    <a:pt x="2484938" y="717070"/>
                  </a:lnTo>
                  <a:lnTo>
                    <a:pt x="2506054" y="757695"/>
                  </a:lnTo>
                  <a:lnTo>
                    <a:pt x="2525987" y="799118"/>
                  </a:lnTo>
                  <a:lnTo>
                    <a:pt x="2544713" y="841313"/>
                  </a:lnTo>
                  <a:lnTo>
                    <a:pt x="2562207" y="884253"/>
                  </a:lnTo>
                  <a:lnTo>
                    <a:pt x="2578444" y="927910"/>
                  </a:lnTo>
                  <a:lnTo>
                    <a:pt x="2593399" y="972258"/>
                  </a:lnTo>
                  <a:lnTo>
                    <a:pt x="2607048" y="1017270"/>
                  </a:lnTo>
                  <a:lnTo>
                    <a:pt x="2619366" y="1062919"/>
                  </a:lnTo>
                  <a:lnTo>
                    <a:pt x="2630327" y="1109178"/>
                  </a:lnTo>
                  <a:lnTo>
                    <a:pt x="2639908" y="1156019"/>
                  </a:lnTo>
                  <a:lnTo>
                    <a:pt x="2648082" y="1203416"/>
                  </a:lnTo>
                  <a:lnTo>
                    <a:pt x="2654826" y="1251343"/>
                  </a:lnTo>
                  <a:lnTo>
                    <a:pt x="2660115" y="1299771"/>
                  </a:lnTo>
                  <a:lnTo>
                    <a:pt x="2663923" y="1348675"/>
                  </a:lnTo>
                  <a:lnTo>
                    <a:pt x="2666226" y="1398027"/>
                  </a:lnTo>
                  <a:lnTo>
                    <a:pt x="2667000" y="1447800"/>
                  </a:lnTo>
                  <a:lnTo>
                    <a:pt x="2666226" y="1497572"/>
                  </a:lnTo>
                  <a:lnTo>
                    <a:pt x="2663923" y="1546924"/>
                  </a:lnTo>
                  <a:lnTo>
                    <a:pt x="2660115" y="1595828"/>
                  </a:lnTo>
                  <a:lnTo>
                    <a:pt x="2654826" y="1644256"/>
                  </a:lnTo>
                  <a:lnTo>
                    <a:pt x="2648082" y="1692183"/>
                  </a:lnTo>
                  <a:lnTo>
                    <a:pt x="2639908" y="1739580"/>
                  </a:lnTo>
                  <a:lnTo>
                    <a:pt x="2630327" y="1786421"/>
                  </a:lnTo>
                  <a:lnTo>
                    <a:pt x="2619366" y="1832680"/>
                  </a:lnTo>
                  <a:lnTo>
                    <a:pt x="2607048" y="1878329"/>
                  </a:lnTo>
                  <a:lnTo>
                    <a:pt x="2593399" y="1923341"/>
                  </a:lnTo>
                  <a:lnTo>
                    <a:pt x="2578444" y="1967689"/>
                  </a:lnTo>
                  <a:lnTo>
                    <a:pt x="2562207" y="2011346"/>
                  </a:lnTo>
                  <a:lnTo>
                    <a:pt x="2544713" y="2054286"/>
                  </a:lnTo>
                  <a:lnTo>
                    <a:pt x="2525987" y="2096481"/>
                  </a:lnTo>
                  <a:lnTo>
                    <a:pt x="2506054" y="2137904"/>
                  </a:lnTo>
                  <a:lnTo>
                    <a:pt x="2484938" y="2178529"/>
                  </a:lnTo>
                  <a:lnTo>
                    <a:pt x="2462665" y="2218329"/>
                  </a:lnTo>
                  <a:lnTo>
                    <a:pt x="2439259" y="2257276"/>
                  </a:lnTo>
                  <a:lnTo>
                    <a:pt x="2414745" y="2295343"/>
                  </a:lnTo>
                  <a:lnTo>
                    <a:pt x="2389148" y="2332504"/>
                  </a:lnTo>
                  <a:lnTo>
                    <a:pt x="2362493" y="2368732"/>
                  </a:lnTo>
                  <a:lnTo>
                    <a:pt x="2334805" y="2404000"/>
                  </a:lnTo>
                  <a:lnTo>
                    <a:pt x="2306108" y="2438280"/>
                  </a:lnTo>
                  <a:lnTo>
                    <a:pt x="2276427" y="2471547"/>
                  </a:lnTo>
                  <a:lnTo>
                    <a:pt x="2245787" y="2503772"/>
                  </a:lnTo>
                  <a:lnTo>
                    <a:pt x="2214213" y="2534929"/>
                  </a:lnTo>
                  <a:lnTo>
                    <a:pt x="2181730" y="2564990"/>
                  </a:lnTo>
                  <a:lnTo>
                    <a:pt x="2148362" y="2593930"/>
                  </a:lnTo>
                  <a:lnTo>
                    <a:pt x="2114135" y="2621721"/>
                  </a:lnTo>
                  <a:lnTo>
                    <a:pt x="2079073" y="2648336"/>
                  </a:lnTo>
                  <a:lnTo>
                    <a:pt x="2043200" y="2673749"/>
                  </a:lnTo>
                  <a:lnTo>
                    <a:pt x="2006543" y="2697931"/>
                  </a:lnTo>
                  <a:lnTo>
                    <a:pt x="1969125" y="2720857"/>
                  </a:lnTo>
                  <a:lnTo>
                    <a:pt x="1930972" y="2742499"/>
                  </a:lnTo>
                  <a:lnTo>
                    <a:pt x="1892108" y="2762830"/>
                  </a:lnTo>
                  <a:lnTo>
                    <a:pt x="1852558" y="2781823"/>
                  </a:lnTo>
                  <a:lnTo>
                    <a:pt x="1812348" y="2799452"/>
                  </a:lnTo>
                  <a:lnTo>
                    <a:pt x="1771501" y="2815690"/>
                  </a:lnTo>
                  <a:lnTo>
                    <a:pt x="1730042" y="2830509"/>
                  </a:lnTo>
                  <a:lnTo>
                    <a:pt x="1687997" y="2843882"/>
                  </a:lnTo>
                  <a:lnTo>
                    <a:pt x="1645390" y="2855783"/>
                  </a:lnTo>
                  <a:lnTo>
                    <a:pt x="1602247" y="2866185"/>
                  </a:lnTo>
                  <a:lnTo>
                    <a:pt x="1558591" y="2875061"/>
                  </a:lnTo>
                  <a:lnTo>
                    <a:pt x="1514448" y="2882383"/>
                  </a:lnTo>
                  <a:lnTo>
                    <a:pt x="1469842" y="2888125"/>
                  </a:lnTo>
                  <a:lnTo>
                    <a:pt x="1424799" y="2892259"/>
                  </a:lnTo>
                  <a:lnTo>
                    <a:pt x="1379343" y="2894760"/>
                  </a:lnTo>
                  <a:lnTo>
                    <a:pt x="1333500" y="2895600"/>
                  </a:lnTo>
                  <a:lnTo>
                    <a:pt x="1287656" y="2894760"/>
                  </a:lnTo>
                  <a:lnTo>
                    <a:pt x="1242200" y="2892259"/>
                  </a:lnTo>
                  <a:lnTo>
                    <a:pt x="1197157" y="2888125"/>
                  </a:lnTo>
                  <a:lnTo>
                    <a:pt x="1152551" y="2882383"/>
                  </a:lnTo>
                  <a:lnTo>
                    <a:pt x="1108408" y="2875061"/>
                  </a:lnTo>
                  <a:lnTo>
                    <a:pt x="1064752" y="2866185"/>
                  </a:lnTo>
                  <a:lnTo>
                    <a:pt x="1021609" y="2855783"/>
                  </a:lnTo>
                  <a:lnTo>
                    <a:pt x="979002" y="2843882"/>
                  </a:lnTo>
                  <a:lnTo>
                    <a:pt x="936957" y="2830509"/>
                  </a:lnTo>
                  <a:lnTo>
                    <a:pt x="895498" y="2815690"/>
                  </a:lnTo>
                  <a:lnTo>
                    <a:pt x="854651" y="2799452"/>
                  </a:lnTo>
                  <a:lnTo>
                    <a:pt x="814441" y="2781823"/>
                  </a:lnTo>
                  <a:lnTo>
                    <a:pt x="774891" y="2762830"/>
                  </a:lnTo>
                  <a:lnTo>
                    <a:pt x="736027" y="2742499"/>
                  </a:lnTo>
                  <a:lnTo>
                    <a:pt x="697874" y="2720857"/>
                  </a:lnTo>
                  <a:lnTo>
                    <a:pt x="660456" y="2697931"/>
                  </a:lnTo>
                  <a:lnTo>
                    <a:pt x="623799" y="2673749"/>
                  </a:lnTo>
                  <a:lnTo>
                    <a:pt x="587926" y="2648336"/>
                  </a:lnTo>
                  <a:lnTo>
                    <a:pt x="552864" y="2621721"/>
                  </a:lnTo>
                  <a:lnTo>
                    <a:pt x="518637" y="2593930"/>
                  </a:lnTo>
                  <a:lnTo>
                    <a:pt x="485269" y="2564990"/>
                  </a:lnTo>
                  <a:lnTo>
                    <a:pt x="452786" y="2534929"/>
                  </a:lnTo>
                  <a:lnTo>
                    <a:pt x="421212" y="2503772"/>
                  </a:lnTo>
                  <a:lnTo>
                    <a:pt x="390572" y="2471547"/>
                  </a:lnTo>
                  <a:lnTo>
                    <a:pt x="360891" y="2438280"/>
                  </a:lnTo>
                  <a:lnTo>
                    <a:pt x="332194" y="2404000"/>
                  </a:lnTo>
                  <a:lnTo>
                    <a:pt x="304506" y="2368732"/>
                  </a:lnTo>
                  <a:lnTo>
                    <a:pt x="277851" y="2332504"/>
                  </a:lnTo>
                  <a:lnTo>
                    <a:pt x="252254" y="2295343"/>
                  </a:lnTo>
                  <a:lnTo>
                    <a:pt x="227740" y="2257276"/>
                  </a:lnTo>
                  <a:lnTo>
                    <a:pt x="204334" y="2218329"/>
                  </a:lnTo>
                  <a:lnTo>
                    <a:pt x="182061" y="2178529"/>
                  </a:lnTo>
                  <a:lnTo>
                    <a:pt x="160945" y="2137904"/>
                  </a:lnTo>
                  <a:lnTo>
                    <a:pt x="141012" y="2096481"/>
                  </a:lnTo>
                  <a:lnTo>
                    <a:pt x="122286" y="2054286"/>
                  </a:lnTo>
                  <a:lnTo>
                    <a:pt x="104792" y="2011346"/>
                  </a:lnTo>
                  <a:lnTo>
                    <a:pt x="88555" y="1967689"/>
                  </a:lnTo>
                  <a:lnTo>
                    <a:pt x="73600" y="1923341"/>
                  </a:lnTo>
                  <a:lnTo>
                    <a:pt x="59951" y="1878329"/>
                  </a:lnTo>
                  <a:lnTo>
                    <a:pt x="47633" y="1832680"/>
                  </a:lnTo>
                  <a:lnTo>
                    <a:pt x="36672" y="1786421"/>
                  </a:lnTo>
                  <a:lnTo>
                    <a:pt x="27091" y="1739580"/>
                  </a:lnTo>
                  <a:lnTo>
                    <a:pt x="18917" y="1692183"/>
                  </a:lnTo>
                  <a:lnTo>
                    <a:pt x="12173" y="1644256"/>
                  </a:lnTo>
                  <a:lnTo>
                    <a:pt x="6884" y="1595828"/>
                  </a:lnTo>
                  <a:lnTo>
                    <a:pt x="3076" y="1546924"/>
                  </a:lnTo>
                  <a:lnTo>
                    <a:pt x="773" y="1497572"/>
                  </a:lnTo>
                  <a:lnTo>
                    <a:pt x="0" y="1447800"/>
                  </a:lnTo>
                  <a:close/>
                </a:path>
              </a:pathLst>
            </a:custGeom>
            <a:noFill/>
            <a:ln w="9525" cap="flat" cmpd="sng">
              <a:solidFill>
                <a:srgbClr val="46AA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44" name="Google Shape;144;p9"/>
          <p:cNvSpPr txBox="1"/>
          <p:nvPr/>
        </p:nvSpPr>
        <p:spPr>
          <a:xfrm>
            <a:off x="605129" y="2273553"/>
            <a:ext cx="1727835" cy="1939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514350" marR="200025" lvl="0" indent="-30543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01: Class</a:t>
            </a:r>
            <a:r>
              <a:rPr lang="en-US" sz="18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Session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815" marR="508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We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learn 	Fundamentals !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815" marR="173355" lvl="0" indent="-285750" algn="l" rtl="0">
              <a:lnSpc>
                <a:spcPct val="99000"/>
              </a:lnSpc>
              <a:spcBef>
                <a:spcPts val="2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Look at few 	examples for 	each concept</a:t>
            </a:r>
            <a:r>
              <a:rPr lang="en-US" sz="1800">
                <a:latin typeface="Carlito"/>
                <a:ea typeface="Carlito"/>
                <a:cs typeface="Carlito"/>
                <a:sym typeface="Carlito"/>
              </a:rPr>
              <a:t>.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</p:txBody>
      </p:sp>
      <p:grpSp>
        <p:nvGrpSpPr>
          <p:cNvPr id="145" name="Google Shape;145;p9"/>
          <p:cNvGrpSpPr/>
          <p:nvPr/>
        </p:nvGrpSpPr>
        <p:grpSpPr>
          <a:xfrm>
            <a:off x="3002265" y="1810498"/>
            <a:ext cx="2967255" cy="2967255"/>
            <a:chOff x="3002265" y="1810498"/>
            <a:chExt cx="2967255" cy="2967255"/>
          </a:xfrm>
        </p:grpSpPr>
        <p:pic>
          <p:nvPicPr>
            <p:cNvPr id="146" name="Google Shape;146;p9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02265" y="1810498"/>
              <a:ext cx="2967255" cy="29672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9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383279" y="1950719"/>
              <a:ext cx="2189988" cy="27553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9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040379" y="1828799"/>
              <a:ext cx="2895599" cy="28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" name="Google Shape;149;p9"/>
            <p:cNvSpPr/>
            <p:nvPr/>
          </p:nvSpPr>
          <p:spPr>
            <a:xfrm>
              <a:off x="3040379" y="1828799"/>
              <a:ext cx="2895600" cy="2895600"/>
            </a:xfrm>
            <a:custGeom>
              <a:avLst/>
              <a:gdLst/>
              <a:ahLst/>
              <a:cxnLst/>
              <a:rect l="l" t="t" r="r" b="b"/>
              <a:pathLst>
                <a:path w="2895600" h="2895600" extrusionOk="0">
                  <a:moveTo>
                    <a:pt x="0" y="1447800"/>
                  </a:moveTo>
                  <a:lnTo>
                    <a:pt x="773" y="1400010"/>
                  </a:lnTo>
                  <a:lnTo>
                    <a:pt x="3079" y="1352607"/>
                  </a:lnTo>
                  <a:lnTo>
                    <a:pt x="6893" y="1305615"/>
                  </a:lnTo>
                  <a:lnTo>
                    <a:pt x="12191" y="1259058"/>
                  </a:lnTo>
                  <a:lnTo>
                    <a:pt x="18949" y="1212960"/>
                  </a:lnTo>
                  <a:lnTo>
                    <a:pt x="27144" y="1167345"/>
                  </a:lnTo>
                  <a:lnTo>
                    <a:pt x="36751" y="1122236"/>
                  </a:lnTo>
                  <a:lnTo>
                    <a:pt x="47747" y="1077657"/>
                  </a:lnTo>
                  <a:lnTo>
                    <a:pt x="60108" y="1033632"/>
                  </a:lnTo>
                  <a:lnTo>
                    <a:pt x="73810" y="990185"/>
                  </a:lnTo>
                  <a:lnTo>
                    <a:pt x="88829" y="947340"/>
                  </a:lnTo>
                  <a:lnTo>
                    <a:pt x="105142" y="905121"/>
                  </a:lnTo>
                  <a:lnTo>
                    <a:pt x="122724" y="863551"/>
                  </a:lnTo>
                  <a:lnTo>
                    <a:pt x="141552" y="822654"/>
                  </a:lnTo>
                  <a:lnTo>
                    <a:pt x="161601" y="782455"/>
                  </a:lnTo>
                  <a:lnTo>
                    <a:pt x="182849" y="742976"/>
                  </a:lnTo>
                  <a:lnTo>
                    <a:pt x="205271" y="704243"/>
                  </a:lnTo>
                  <a:lnTo>
                    <a:pt x="228843" y="666278"/>
                  </a:lnTo>
                  <a:lnTo>
                    <a:pt x="253541" y="629106"/>
                  </a:lnTo>
                  <a:lnTo>
                    <a:pt x="279343" y="592750"/>
                  </a:lnTo>
                  <a:lnTo>
                    <a:pt x="306222" y="557235"/>
                  </a:lnTo>
                  <a:lnTo>
                    <a:pt x="334157" y="522583"/>
                  </a:lnTo>
                  <a:lnTo>
                    <a:pt x="363123" y="488820"/>
                  </a:lnTo>
                  <a:lnTo>
                    <a:pt x="393096" y="455968"/>
                  </a:lnTo>
                  <a:lnTo>
                    <a:pt x="424052" y="424052"/>
                  </a:lnTo>
                  <a:lnTo>
                    <a:pt x="455968" y="393096"/>
                  </a:lnTo>
                  <a:lnTo>
                    <a:pt x="488820" y="363123"/>
                  </a:lnTo>
                  <a:lnTo>
                    <a:pt x="522583" y="334157"/>
                  </a:lnTo>
                  <a:lnTo>
                    <a:pt x="557235" y="306222"/>
                  </a:lnTo>
                  <a:lnTo>
                    <a:pt x="592750" y="279343"/>
                  </a:lnTo>
                  <a:lnTo>
                    <a:pt x="629106" y="253541"/>
                  </a:lnTo>
                  <a:lnTo>
                    <a:pt x="666278" y="228843"/>
                  </a:lnTo>
                  <a:lnTo>
                    <a:pt x="704243" y="205271"/>
                  </a:lnTo>
                  <a:lnTo>
                    <a:pt x="742976" y="182849"/>
                  </a:lnTo>
                  <a:lnTo>
                    <a:pt x="782455" y="161601"/>
                  </a:lnTo>
                  <a:lnTo>
                    <a:pt x="822654" y="141552"/>
                  </a:lnTo>
                  <a:lnTo>
                    <a:pt x="863551" y="122724"/>
                  </a:lnTo>
                  <a:lnTo>
                    <a:pt x="905121" y="105142"/>
                  </a:lnTo>
                  <a:lnTo>
                    <a:pt x="947340" y="88829"/>
                  </a:lnTo>
                  <a:lnTo>
                    <a:pt x="990185" y="73810"/>
                  </a:lnTo>
                  <a:lnTo>
                    <a:pt x="1033632" y="60108"/>
                  </a:lnTo>
                  <a:lnTo>
                    <a:pt x="1077657" y="47747"/>
                  </a:lnTo>
                  <a:lnTo>
                    <a:pt x="1122236" y="36751"/>
                  </a:lnTo>
                  <a:lnTo>
                    <a:pt x="1167345" y="27144"/>
                  </a:lnTo>
                  <a:lnTo>
                    <a:pt x="1212960" y="18949"/>
                  </a:lnTo>
                  <a:lnTo>
                    <a:pt x="1259058" y="12191"/>
                  </a:lnTo>
                  <a:lnTo>
                    <a:pt x="1305615" y="6893"/>
                  </a:lnTo>
                  <a:lnTo>
                    <a:pt x="1352607" y="3079"/>
                  </a:lnTo>
                  <a:lnTo>
                    <a:pt x="1400010" y="773"/>
                  </a:lnTo>
                  <a:lnTo>
                    <a:pt x="1447799" y="0"/>
                  </a:lnTo>
                  <a:lnTo>
                    <a:pt x="1495589" y="773"/>
                  </a:lnTo>
                  <a:lnTo>
                    <a:pt x="1542992" y="3079"/>
                  </a:lnTo>
                  <a:lnTo>
                    <a:pt x="1589984" y="6893"/>
                  </a:lnTo>
                  <a:lnTo>
                    <a:pt x="1636541" y="12191"/>
                  </a:lnTo>
                  <a:lnTo>
                    <a:pt x="1682639" y="18949"/>
                  </a:lnTo>
                  <a:lnTo>
                    <a:pt x="1728254" y="27144"/>
                  </a:lnTo>
                  <a:lnTo>
                    <a:pt x="1773363" y="36751"/>
                  </a:lnTo>
                  <a:lnTo>
                    <a:pt x="1817942" y="47747"/>
                  </a:lnTo>
                  <a:lnTo>
                    <a:pt x="1861967" y="60108"/>
                  </a:lnTo>
                  <a:lnTo>
                    <a:pt x="1905414" y="73810"/>
                  </a:lnTo>
                  <a:lnTo>
                    <a:pt x="1948259" y="88829"/>
                  </a:lnTo>
                  <a:lnTo>
                    <a:pt x="1990478" y="105142"/>
                  </a:lnTo>
                  <a:lnTo>
                    <a:pt x="2032048" y="122724"/>
                  </a:lnTo>
                  <a:lnTo>
                    <a:pt x="2072945" y="141552"/>
                  </a:lnTo>
                  <a:lnTo>
                    <a:pt x="2113144" y="161601"/>
                  </a:lnTo>
                  <a:lnTo>
                    <a:pt x="2152623" y="182849"/>
                  </a:lnTo>
                  <a:lnTo>
                    <a:pt x="2191356" y="205271"/>
                  </a:lnTo>
                  <a:lnTo>
                    <a:pt x="2229321" y="228843"/>
                  </a:lnTo>
                  <a:lnTo>
                    <a:pt x="2266493" y="253541"/>
                  </a:lnTo>
                  <a:lnTo>
                    <a:pt x="2302849" y="279343"/>
                  </a:lnTo>
                  <a:lnTo>
                    <a:pt x="2338364" y="306222"/>
                  </a:lnTo>
                  <a:lnTo>
                    <a:pt x="2373016" y="334157"/>
                  </a:lnTo>
                  <a:lnTo>
                    <a:pt x="2406779" y="363123"/>
                  </a:lnTo>
                  <a:lnTo>
                    <a:pt x="2439631" y="393096"/>
                  </a:lnTo>
                  <a:lnTo>
                    <a:pt x="2471547" y="424053"/>
                  </a:lnTo>
                  <a:lnTo>
                    <a:pt x="2502503" y="455968"/>
                  </a:lnTo>
                  <a:lnTo>
                    <a:pt x="2532476" y="488820"/>
                  </a:lnTo>
                  <a:lnTo>
                    <a:pt x="2561442" y="522583"/>
                  </a:lnTo>
                  <a:lnTo>
                    <a:pt x="2589377" y="557235"/>
                  </a:lnTo>
                  <a:lnTo>
                    <a:pt x="2616256" y="592750"/>
                  </a:lnTo>
                  <a:lnTo>
                    <a:pt x="2642058" y="629106"/>
                  </a:lnTo>
                  <a:lnTo>
                    <a:pt x="2666756" y="666278"/>
                  </a:lnTo>
                  <a:lnTo>
                    <a:pt x="2690328" y="704243"/>
                  </a:lnTo>
                  <a:lnTo>
                    <a:pt x="2712750" y="742976"/>
                  </a:lnTo>
                  <a:lnTo>
                    <a:pt x="2733998" y="782455"/>
                  </a:lnTo>
                  <a:lnTo>
                    <a:pt x="2754047" y="822654"/>
                  </a:lnTo>
                  <a:lnTo>
                    <a:pt x="2772875" y="863551"/>
                  </a:lnTo>
                  <a:lnTo>
                    <a:pt x="2790457" y="905121"/>
                  </a:lnTo>
                  <a:lnTo>
                    <a:pt x="2806770" y="947340"/>
                  </a:lnTo>
                  <a:lnTo>
                    <a:pt x="2821789" y="990185"/>
                  </a:lnTo>
                  <a:lnTo>
                    <a:pt x="2835491" y="1033632"/>
                  </a:lnTo>
                  <a:lnTo>
                    <a:pt x="2847852" y="1077657"/>
                  </a:lnTo>
                  <a:lnTo>
                    <a:pt x="2858848" y="1122236"/>
                  </a:lnTo>
                  <a:lnTo>
                    <a:pt x="2868455" y="1167345"/>
                  </a:lnTo>
                  <a:lnTo>
                    <a:pt x="2876650" y="1212960"/>
                  </a:lnTo>
                  <a:lnTo>
                    <a:pt x="2883408" y="1259058"/>
                  </a:lnTo>
                  <a:lnTo>
                    <a:pt x="2888706" y="1305615"/>
                  </a:lnTo>
                  <a:lnTo>
                    <a:pt x="2892520" y="1352607"/>
                  </a:lnTo>
                  <a:lnTo>
                    <a:pt x="2894826" y="1400010"/>
                  </a:lnTo>
                  <a:lnTo>
                    <a:pt x="2895599" y="1447800"/>
                  </a:lnTo>
                  <a:lnTo>
                    <a:pt x="2894826" y="1495589"/>
                  </a:lnTo>
                  <a:lnTo>
                    <a:pt x="2892520" y="1542992"/>
                  </a:lnTo>
                  <a:lnTo>
                    <a:pt x="2888706" y="1589984"/>
                  </a:lnTo>
                  <a:lnTo>
                    <a:pt x="2883408" y="1636541"/>
                  </a:lnTo>
                  <a:lnTo>
                    <a:pt x="2876650" y="1682639"/>
                  </a:lnTo>
                  <a:lnTo>
                    <a:pt x="2868455" y="1728254"/>
                  </a:lnTo>
                  <a:lnTo>
                    <a:pt x="2858848" y="1773363"/>
                  </a:lnTo>
                  <a:lnTo>
                    <a:pt x="2847852" y="1817942"/>
                  </a:lnTo>
                  <a:lnTo>
                    <a:pt x="2835491" y="1861967"/>
                  </a:lnTo>
                  <a:lnTo>
                    <a:pt x="2821789" y="1905414"/>
                  </a:lnTo>
                  <a:lnTo>
                    <a:pt x="2806770" y="1948259"/>
                  </a:lnTo>
                  <a:lnTo>
                    <a:pt x="2790457" y="1990478"/>
                  </a:lnTo>
                  <a:lnTo>
                    <a:pt x="2772875" y="2032048"/>
                  </a:lnTo>
                  <a:lnTo>
                    <a:pt x="2754047" y="2072945"/>
                  </a:lnTo>
                  <a:lnTo>
                    <a:pt x="2733998" y="2113144"/>
                  </a:lnTo>
                  <a:lnTo>
                    <a:pt x="2712750" y="2152623"/>
                  </a:lnTo>
                  <a:lnTo>
                    <a:pt x="2690328" y="2191356"/>
                  </a:lnTo>
                  <a:lnTo>
                    <a:pt x="2666756" y="2229321"/>
                  </a:lnTo>
                  <a:lnTo>
                    <a:pt x="2642058" y="2266493"/>
                  </a:lnTo>
                  <a:lnTo>
                    <a:pt x="2616256" y="2302849"/>
                  </a:lnTo>
                  <a:lnTo>
                    <a:pt x="2589377" y="2338364"/>
                  </a:lnTo>
                  <a:lnTo>
                    <a:pt x="2561442" y="2373016"/>
                  </a:lnTo>
                  <a:lnTo>
                    <a:pt x="2532476" y="2406779"/>
                  </a:lnTo>
                  <a:lnTo>
                    <a:pt x="2502503" y="2439631"/>
                  </a:lnTo>
                  <a:lnTo>
                    <a:pt x="2471546" y="2471547"/>
                  </a:lnTo>
                  <a:lnTo>
                    <a:pt x="2439631" y="2502503"/>
                  </a:lnTo>
                  <a:lnTo>
                    <a:pt x="2406779" y="2532476"/>
                  </a:lnTo>
                  <a:lnTo>
                    <a:pt x="2373016" y="2561442"/>
                  </a:lnTo>
                  <a:lnTo>
                    <a:pt x="2338364" y="2589377"/>
                  </a:lnTo>
                  <a:lnTo>
                    <a:pt x="2302849" y="2616256"/>
                  </a:lnTo>
                  <a:lnTo>
                    <a:pt x="2266493" y="2642058"/>
                  </a:lnTo>
                  <a:lnTo>
                    <a:pt x="2229321" y="2666756"/>
                  </a:lnTo>
                  <a:lnTo>
                    <a:pt x="2191356" y="2690328"/>
                  </a:lnTo>
                  <a:lnTo>
                    <a:pt x="2152623" y="2712750"/>
                  </a:lnTo>
                  <a:lnTo>
                    <a:pt x="2113144" y="2733998"/>
                  </a:lnTo>
                  <a:lnTo>
                    <a:pt x="2072945" y="2754047"/>
                  </a:lnTo>
                  <a:lnTo>
                    <a:pt x="2032048" y="2772875"/>
                  </a:lnTo>
                  <a:lnTo>
                    <a:pt x="1990478" y="2790457"/>
                  </a:lnTo>
                  <a:lnTo>
                    <a:pt x="1948259" y="2806770"/>
                  </a:lnTo>
                  <a:lnTo>
                    <a:pt x="1905414" y="2821789"/>
                  </a:lnTo>
                  <a:lnTo>
                    <a:pt x="1861967" y="2835491"/>
                  </a:lnTo>
                  <a:lnTo>
                    <a:pt x="1817942" y="2847852"/>
                  </a:lnTo>
                  <a:lnTo>
                    <a:pt x="1773363" y="2858848"/>
                  </a:lnTo>
                  <a:lnTo>
                    <a:pt x="1728254" y="2868455"/>
                  </a:lnTo>
                  <a:lnTo>
                    <a:pt x="1682639" y="2876650"/>
                  </a:lnTo>
                  <a:lnTo>
                    <a:pt x="1636541" y="2883408"/>
                  </a:lnTo>
                  <a:lnTo>
                    <a:pt x="1589984" y="2888706"/>
                  </a:lnTo>
                  <a:lnTo>
                    <a:pt x="1542992" y="2892520"/>
                  </a:lnTo>
                  <a:lnTo>
                    <a:pt x="1495589" y="2894826"/>
                  </a:lnTo>
                  <a:lnTo>
                    <a:pt x="1447799" y="2895600"/>
                  </a:lnTo>
                  <a:lnTo>
                    <a:pt x="1400010" y="2894826"/>
                  </a:lnTo>
                  <a:lnTo>
                    <a:pt x="1352607" y="2892520"/>
                  </a:lnTo>
                  <a:lnTo>
                    <a:pt x="1305615" y="2888706"/>
                  </a:lnTo>
                  <a:lnTo>
                    <a:pt x="1259058" y="2883408"/>
                  </a:lnTo>
                  <a:lnTo>
                    <a:pt x="1212960" y="2876650"/>
                  </a:lnTo>
                  <a:lnTo>
                    <a:pt x="1167345" y="2868455"/>
                  </a:lnTo>
                  <a:lnTo>
                    <a:pt x="1122236" y="2858848"/>
                  </a:lnTo>
                  <a:lnTo>
                    <a:pt x="1077657" y="2847852"/>
                  </a:lnTo>
                  <a:lnTo>
                    <a:pt x="1033632" y="2835491"/>
                  </a:lnTo>
                  <a:lnTo>
                    <a:pt x="990185" y="2821789"/>
                  </a:lnTo>
                  <a:lnTo>
                    <a:pt x="947340" y="2806770"/>
                  </a:lnTo>
                  <a:lnTo>
                    <a:pt x="905121" y="2790457"/>
                  </a:lnTo>
                  <a:lnTo>
                    <a:pt x="863551" y="2772875"/>
                  </a:lnTo>
                  <a:lnTo>
                    <a:pt x="822654" y="2754047"/>
                  </a:lnTo>
                  <a:lnTo>
                    <a:pt x="782455" y="2733998"/>
                  </a:lnTo>
                  <a:lnTo>
                    <a:pt x="742976" y="2712750"/>
                  </a:lnTo>
                  <a:lnTo>
                    <a:pt x="704243" y="2690328"/>
                  </a:lnTo>
                  <a:lnTo>
                    <a:pt x="666278" y="2666756"/>
                  </a:lnTo>
                  <a:lnTo>
                    <a:pt x="629106" y="2642058"/>
                  </a:lnTo>
                  <a:lnTo>
                    <a:pt x="592750" y="2616256"/>
                  </a:lnTo>
                  <a:lnTo>
                    <a:pt x="557235" y="2589377"/>
                  </a:lnTo>
                  <a:lnTo>
                    <a:pt x="522583" y="2561442"/>
                  </a:lnTo>
                  <a:lnTo>
                    <a:pt x="488820" y="2532476"/>
                  </a:lnTo>
                  <a:lnTo>
                    <a:pt x="455968" y="2502503"/>
                  </a:lnTo>
                  <a:lnTo>
                    <a:pt x="424052" y="2471547"/>
                  </a:lnTo>
                  <a:lnTo>
                    <a:pt x="393096" y="2439631"/>
                  </a:lnTo>
                  <a:lnTo>
                    <a:pt x="363123" y="2406779"/>
                  </a:lnTo>
                  <a:lnTo>
                    <a:pt x="334157" y="2373016"/>
                  </a:lnTo>
                  <a:lnTo>
                    <a:pt x="306222" y="2338364"/>
                  </a:lnTo>
                  <a:lnTo>
                    <a:pt x="279343" y="2302849"/>
                  </a:lnTo>
                  <a:lnTo>
                    <a:pt x="253541" y="2266493"/>
                  </a:lnTo>
                  <a:lnTo>
                    <a:pt x="228843" y="2229321"/>
                  </a:lnTo>
                  <a:lnTo>
                    <a:pt x="205271" y="2191356"/>
                  </a:lnTo>
                  <a:lnTo>
                    <a:pt x="182849" y="2152623"/>
                  </a:lnTo>
                  <a:lnTo>
                    <a:pt x="161601" y="2113144"/>
                  </a:lnTo>
                  <a:lnTo>
                    <a:pt x="141552" y="2072945"/>
                  </a:lnTo>
                  <a:lnTo>
                    <a:pt x="122724" y="2032048"/>
                  </a:lnTo>
                  <a:lnTo>
                    <a:pt x="105142" y="1990478"/>
                  </a:lnTo>
                  <a:lnTo>
                    <a:pt x="88829" y="1948259"/>
                  </a:lnTo>
                  <a:lnTo>
                    <a:pt x="73810" y="1905414"/>
                  </a:lnTo>
                  <a:lnTo>
                    <a:pt x="60108" y="1861967"/>
                  </a:lnTo>
                  <a:lnTo>
                    <a:pt x="47747" y="1817942"/>
                  </a:lnTo>
                  <a:lnTo>
                    <a:pt x="36751" y="1773363"/>
                  </a:lnTo>
                  <a:lnTo>
                    <a:pt x="27144" y="1728254"/>
                  </a:lnTo>
                  <a:lnTo>
                    <a:pt x="18949" y="1682639"/>
                  </a:lnTo>
                  <a:lnTo>
                    <a:pt x="12191" y="1636541"/>
                  </a:lnTo>
                  <a:lnTo>
                    <a:pt x="6893" y="1589984"/>
                  </a:lnTo>
                  <a:lnTo>
                    <a:pt x="3079" y="1542992"/>
                  </a:lnTo>
                  <a:lnTo>
                    <a:pt x="773" y="1495589"/>
                  </a:lnTo>
                  <a:lnTo>
                    <a:pt x="0" y="1447800"/>
                  </a:lnTo>
                  <a:close/>
                </a:path>
              </a:pathLst>
            </a:custGeom>
            <a:noFill/>
            <a:ln w="9525" cap="flat" cmpd="sng">
              <a:solidFill>
                <a:srgbClr val="97B85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0" name="Google Shape;150;p9"/>
          <p:cNvSpPr txBox="1"/>
          <p:nvPr/>
        </p:nvSpPr>
        <p:spPr>
          <a:xfrm>
            <a:off x="3543046" y="2021789"/>
            <a:ext cx="1811020" cy="24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7526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02: Explore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815" marR="5080" lvl="0" indent="-28575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You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explore the 	additional 	notebooks. Get 	your hands dirty 	with Python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815" marR="241934" lvl="0" indent="-285750" algn="l" rtl="0">
              <a:lnSpc>
                <a:spcPct val="98900"/>
              </a:lnSpc>
              <a:spcBef>
                <a:spcPts val="25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Practice more 	examples for 	each concept</a:t>
            </a:r>
            <a:r>
              <a:rPr lang="en-US" sz="1800">
                <a:latin typeface="Carlito"/>
                <a:ea typeface="Carlito"/>
                <a:cs typeface="Carlito"/>
                <a:sym typeface="Carlito"/>
              </a:rPr>
              <a:t>.</a:t>
            </a:r>
            <a:endParaRPr sz="1800">
              <a:latin typeface="Carlito"/>
              <a:ea typeface="Carlito"/>
              <a:cs typeface="Carlito"/>
              <a:sym typeface="Carlito"/>
            </a:endParaRPr>
          </a:p>
        </p:txBody>
      </p:sp>
      <p:grpSp>
        <p:nvGrpSpPr>
          <p:cNvPr id="151" name="Google Shape;151;p9"/>
          <p:cNvGrpSpPr/>
          <p:nvPr/>
        </p:nvGrpSpPr>
        <p:grpSpPr>
          <a:xfrm>
            <a:off x="6134075" y="1853170"/>
            <a:ext cx="2891075" cy="2967255"/>
            <a:chOff x="6134075" y="1853170"/>
            <a:chExt cx="2891075" cy="2967255"/>
          </a:xfrm>
        </p:grpSpPr>
        <p:pic>
          <p:nvPicPr>
            <p:cNvPr id="152" name="Google Shape;152;p9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134075" y="1853170"/>
              <a:ext cx="2891075" cy="29672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9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504431" y="2404872"/>
              <a:ext cx="2189987" cy="192633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9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172199" y="1871472"/>
              <a:ext cx="2819400" cy="2895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9"/>
            <p:cNvSpPr/>
            <p:nvPr/>
          </p:nvSpPr>
          <p:spPr>
            <a:xfrm>
              <a:off x="6172199" y="1871472"/>
              <a:ext cx="2819400" cy="2895600"/>
            </a:xfrm>
            <a:custGeom>
              <a:avLst/>
              <a:gdLst/>
              <a:ahLst/>
              <a:cxnLst/>
              <a:rect l="l" t="t" r="r" b="b"/>
              <a:pathLst>
                <a:path w="2819400" h="2895600" extrusionOk="0">
                  <a:moveTo>
                    <a:pt x="0" y="1447800"/>
                  </a:moveTo>
                  <a:lnTo>
                    <a:pt x="784" y="1399038"/>
                  </a:lnTo>
                  <a:lnTo>
                    <a:pt x="3121" y="1350681"/>
                  </a:lnTo>
                  <a:lnTo>
                    <a:pt x="6986" y="1302752"/>
                  </a:lnTo>
                  <a:lnTo>
                    <a:pt x="12355" y="1255278"/>
                  </a:lnTo>
                  <a:lnTo>
                    <a:pt x="19202" y="1208283"/>
                  </a:lnTo>
                  <a:lnTo>
                    <a:pt x="27503" y="1161793"/>
                  </a:lnTo>
                  <a:lnTo>
                    <a:pt x="37233" y="1115834"/>
                  </a:lnTo>
                  <a:lnTo>
                    <a:pt x="48368" y="1070430"/>
                  </a:lnTo>
                  <a:lnTo>
                    <a:pt x="60883" y="1025608"/>
                  </a:lnTo>
                  <a:lnTo>
                    <a:pt x="74753" y="981391"/>
                  </a:lnTo>
                  <a:lnTo>
                    <a:pt x="89953" y="937807"/>
                  </a:lnTo>
                  <a:lnTo>
                    <a:pt x="106459" y="894879"/>
                  </a:lnTo>
                  <a:lnTo>
                    <a:pt x="124247" y="852634"/>
                  </a:lnTo>
                  <a:lnTo>
                    <a:pt x="143291" y="811096"/>
                  </a:lnTo>
                  <a:lnTo>
                    <a:pt x="163567" y="770292"/>
                  </a:lnTo>
                  <a:lnTo>
                    <a:pt x="185050" y="730246"/>
                  </a:lnTo>
                  <a:lnTo>
                    <a:pt x="207716" y="690983"/>
                  </a:lnTo>
                  <a:lnTo>
                    <a:pt x="231539" y="652530"/>
                  </a:lnTo>
                  <a:lnTo>
                    <a:pt x="256495" y="614911"/>
                  </a:lnTo>
                  <a:lnTo>
                    <a:pt x="282560" y="578151"/>
                  </a:lnTo>
                  <a:lnTo>
                    <a:pt x="309709" y="542277"/>
                  </a:lnTo>
                  <a:lnTo>
                    <a:pt x="337917" y="507313"/>
                  </a:lnTo>
                  <a:lnTo>
                    <a:pt x="367159" y="473285"/>
                  </a:lnTo>
                  <a:lnTo>
                    <a:pt x="397411" y="440218"/>
                  </a:lnTo>
                  <a:lnTo>
                    <a:pt x="428648" y="408137"/>
                  </a:lnTo>
                  <a:lnTo>
                    <a:pt x="460846" y="377068"/>
                  </a:lnTo>
                  <a:lnTo>
                    <a:pt x="493979" y="347036"/>
                  </a:lnTo>
                  <a:lnTo>
                    <a:pt x="528023" y="318067"/>
                  </a:lnTo>
                  <a:lnTo>
                    <a:pt x="562954" y="290185"/>
                  </a:lnTo>
                  <a:lnTo>
                    <a:pt x="598746" y="263416"/>
                  </a:lnTo>
                  <a:lnTo>
                    <a:pt x="635375" y="237786"/>
                  </a:lnTo>
                  <a:lnTo>
                    <a:pt x="672817" y="213320"/>
                  </a:lnTo>
                  <a:lnTo>
                    <a:pt x="711046" y="190043"/>
                  </a:lnTo>
                  <a:lnTo>
                    <a:pt x="750039" y="167980"/>
                  </a:lnTo>
                  <a:lnTo>
                    <a:pt x="789769" y="147157"/>
                  </a:lnTo>
                  <a:lnTo>
                    <a:pt x="830213" y="127599"/>
                  </a:lnTo>
                  <a:lnTo>
                    <a:pt x="871346" y="109331"/>
                  </a:lnTo>
                  <a:lnTo>
                    <a:pt x="913144" y="92379"/>
                  </a:lnTo>
                  <a:lnTo>
                    <a:pt x="955581" y="76769"/>
                  </a:lnTo>
                  <a:lnTo>
                    <a:pt x="998633" y="62525"/>
                  </a:lnTo>
                  <a:lnTo>
                    <a:pt x="1042275" y="49672"/>
                  </a:lnTo>
                  <a:lnTo>
                    <a:pt x="1086483" y="38237"/>
                  </a:lnTo>
                  <a:lnTo>
                    <a:pt x="1131231" y="28245"/>
                  </a:lnTo>
                  <a:lnTo>
                    <a:pt x="1176496" y="19720"/>
                  </a:lnTo>
                  <a:lnTo>
                    <a:pt x="1222252" y="12688"/>
                  </a:lnTo>
                  <a:lnTo>
                    <a:pt x="1268476" y="7175"/>
                  </a:lnTo>
                  <a:lnTo>
                    <a:pt x="1315141" y="3205"/>
                  </a:lnTo>
                  <a:lnTo>
                    <a:pt x="1362224" y="805"/>
                  </a:lnTo>
                  <a:lnTo>
                    <a:pt x="1409700" y="0"/>
                  </a:lnTo>
                  <a:lnTo>
                    <a:pt x="1457175" y="805"/>
                  </a:lnTo>
                  <a:lnTo>
                    <a:pt x="1504258" y="3205"/>
                  </a:lnTo>
                  <a:lnTo>
                    <a:pt x="1550923" y="7175"/>
                  </a:lnTo>
                  <a:lnTo>
                    <a:pt x="1597147" y="12688"/>
                  </a:lnTo>
                  <a:lnTo>
                    <a:pt x="1642903" y="19720"/>
                  </a:lnTo>
                  <a:lnTo>
                    <a:pt x="1688168" y="28245"/>
                  </a:lnTo>
                  <a:lnTo>
                    <a:pt x="1732916" y="38237"/>
                  </a:lnTo>
                  <a:lnTo>
                    <a:pt x="1777124" y="49672"/>
                  </a:lnTo>
                  <a:lnTo>
                    <a:pt x="1820766" y="62525"/>
                  </a:lnTo>
                  <a:lnTo>
                    <a:pt x="1863818" y="76769"/>
                  </a:lnTo>
                  <a:lnTo>
                    <a:pt x="1906255" y="92379"/>
                  </a:lnTo>
                  <a:lnTo>
                    <a:pt x="1948053" y="109331"/>
                  </a:lnTo>
                  <a:lnTo>
                    <a:pt x="1989186" y="127599"/>
                  </a:lnTo>
                  <a:lnTo>
                    <a:pt x="2029630" y="147157"/>
                  </a:lnTo>
                  <a:lnTo>
                    <a:pt x="2069360" y="167980"/>
                  </a:lnTo>
                  <a:lnTo>
                    <a:pt x="2108353" y="190043"/>
                  </a:lnTo>
                  <a:lnTo>
                    <a:pt x="2146582" y="213320"/>
                  </a:lnTo>
                  <a:lnTo>
                    <a:pt x="2184024" y="237786"/>
                  </a:lnTo>
                  <a:lnTo>
                    <a:pt x="2220653" y="263416"/>
                  </a:lnTo>
                  <a:lnTo>
                    <a:pt x="2256445" y="290185"/>
                  </a:lnTo>
                  <a:lnTo>
                    <a:pt x="2291376" y="318067"/>
                  </a:lnTo>
                  <a:lnTo>
                    <a:pt x="2325420" y="347036"/>
                  </a:lnTo>
                  <a:lnTo>
                    <a:pt x="2358553" y="377068"/>
                  </a:lnTo>
                  <a:lnTo>
                    <a:pt x="2390751" y="408137"/>
                  </a:lnTo>
                  <a:lnTo>
                    <a:pt x="2421988" y="440218"/>
                  </a:lnTo>
                  <a:lnTo>
                    <a:pt x="2452240" y="473285"/>
                  </a:lnTo>
                  <a:lnTo>
                    <a:pt x="2481482" y="507313"/>
                  </a:lnTo>
                  <a:lnTo>
                    <a:pt x="2509690" y="542277"/>
                  </a:lnTo>
                  <a:lnTo>
                    <a:pt x="2536839" y="578151"/>
                  </a:lnTo>
                  <a:lnTo>
                    <a:pt x="2562904" y="614911"/>
                  </a:lnTo>
                  <a:lnTo>
                    <a:pt x="2587860" y="652530"/>
                  </a:lnTo>
                  <a:lnTo>
                    <a:pt x="2611683" y="690983"/>
                  </a:lnTo>
                  <a:lnTo>
                    <a:pt x="2634349" y="730246"/>
                  </a:lnTo>
                  <a:lnTo>
                    <a:pt x="2655832" y="770292"/>
                  </a:lnTo>
                  <a:lnTo>
                    <a:pt x="2676108" y="811096"/>
                  </a:lnTo>
                  <a:lnTo>
                    <a:pt x="2695152" y="852634"/>
                  </a:lnTo>
                  <a:lnTo>
                    <a:pt x="2712940" y="894879"/>
                  </a:lnTo>
                  <a:lnTo>
                    <a:pt x="2729446" y="937807"/>
                  </a:lnTo>
                  <a:lnTo>
                    <a:pt x="2744646" y="981391"/>
                  </a:lnTo>
                  <a:lnTo>
                    <a:pt x="2758516" y="1025608"/>
                  </a:lnTo>
                  <a:lnTo>
                    <a:pt x="2771031" y="1070430"/>
                  </a:lnTo>
                  <a:lnTo>
                    <a:pt x="2782166" y="1115834"/>
                  </a:lnTo>
                  <a:lnTo>
                    <a:pt x="2791896" y="1161793"/>
                  </a:lnTo>
                  <a:lnTo>
                    <a:pt x="2800197" y="1208283"/>
                  </a:lnTo>
                  <a:lnTo>
                    <a:pt x="2807044" y="1255278"/>
                  </a:lnTo>
                  <a:lnTo>
                    <a:pt x="2812413" y="1302752"/>
                  </a:lnTo>
                  <a:lnTo>
                    <a:pt x="2816278" y="1350681"/>
                  </a:lnTo>
                  <a:lnTo>
                    <a:pt x="2818615" y="1399038"/>
                  </a:lnTo>
                  <a:lnTo>
                    <a:pt x="2819400" y="1447800"/>
                  </a:lnTo>
                  <a:lnTo>
                    <a:pt x="2818615" y="1496561"/>
                  </a:lnTo>
                  <a:lnTo>
                    <a:pt x="2816278" y="1544918"/>
                  </a:lnTo>
                  <a:lnTo>
                    <a:pt x="2812413" y="1592847"/>
                  </a:lnTo>
                  <a:lnTo>
                    <a:pt x="2807044" y="1640321"/>
                  </a:lnTo>
                  <a:lnTo>
                    <a:pt x="2800197" y="1687316"/>
                  </a:lnTo>
                  <a:lnTo>
                    <a:pt x="2791896" y="1733806"/>
                  </a:lnTo>
                  <a:lnTo>
                    <a:pt x="2782166" y="1779765"/>
                  </a:lnTo>
                  <a:lnTo>
                    <a:pt x="2771031" y="1825169"/>
                  </a:lnTo>
                  <a:lnTo>
                    <a:pt x="2758516" y="1869991"/>
                  </a:lnTo>
                  <a:lnTo>
                    <a:pt x="2744646" y="1914208"/>
                  </a:lnTo>
                  <a:lnTo>
                    <a:pt x="2729446" y="1957792"/>
                  </a:lnTo>
                  <a:lnTo>
                    <a:pt x="2712940" y="2000720"/>
                  </a:lnTo>
                  <a:lnTo>
                    <a:pt x="2695152" y="2042965"/>
                  </a:lnTo>
                  <a:lnTo>
                    <a:pt x="2676108" y="2084503"/>
                  </a:lnTo>
                  <a:lnTo>
                    <a:pt x="2655832" y="2125307"/>
                  </a:lnTo>
                  <a:lnTo>
                    <a:pt x="2634349" y="2165353"/>
                  </a:lnTo>
                  <a:lnTo>
                    <a:pt x="2611683" y="2204616"/>
                  </a:lnTo>
                  <a:lnTo>
                    <a:pt x="2587860" y="2243069"/>
                  </a:lnTo>
                  <a:lnTo>
                    <a:pt x="2562904" y="2280688"/>
                  </a:lnTo>
                  <a:lnTo>
                    <a:pt x="2536839" y="2317448"/>
                  </a:lnTo>
                  <a:lnTo>
                    <a:pt x="2509690" y="2353322"/>
                  </a:lnTo>
                  <a:lnTo>
                    <a:pt x="2481482" y="2388286"/>
                  </a:lnTo>
                  <a:lnTo>
                    <a:pt x="2452240" y="2422314"/>
                  </a:lnTo>
                  <a:lnTo>
                    <a:pt x="2421988" y="2455381"/>
                  </a:lnTo>
                  <a:lnTo>
                    <a:pt x="2390751" y="2487462"/>
                  </a:lnTo>
                  <a:lnTo>
                    <a:pt x="2358553" y="2518531"/>
                  </a:lnTo>
                  <a:lnTo>
                    <a:pt x="2325420" y="2548563"/>
                  </a:lnTo>
                  <a:lnTo>
                    <a:pt x="2291376" y="2577532"/>
                  </a:lnTo>
                  <a:lnTo>
                    <a:pt x="2256445" y="2605414"/>
                  </a:lnTo>
                  <a:lnTo>
                    <a:pt x="2220653" y="2632183"/>
                  </a:lnTo>
                  <a:lnTo>
                    <a:pt x="2184024" y="2657813"/>
                  </a:lnTo>
                  <a:lnTo>
                    <a:pt x="2146582" y="2682279"/>
                  </a:lnTo>
                  <a:lnTo>
                    <a:pt x="2108353" y="2705556"/>
                  </a:lnTo>
                  <a:lnTo>
                    <a:pt x="2069360" y="2727619"/>
                  </a:lnTo>
                  <a:lnTo>
                    <a:pt x="2029630" y="2748442"/>
                  </a:lnTo>
                  <a:lnTo>
                    <a:pt x="1989186" y="2768000"/>
                  </a:lnTo>
                  <a:lnTo>
                    <a:pt x="1948053" y="2786268"/>
                  </a:lnTo>
                  <a:lnTo>
                    <a:pt x="1906255" y="2803220"/>
                  </a:lnTo>
                  <a:lnTo>
                    <a:pt x="1863818" y="2818830"/>
                  </a:lnTo>
                  <a:lnTo>
                    <a:pt x="1820766" y="2833074"/>
                  </a:lnTo>
                  <a:lnTo>
                    <a:pt x="1777124" y="2845927"/>
                  </a:lnTo>
                  <a:lnTo>
                    <a:pt x="1732916" y="2857362"/>
                  </a:lnTo>
                  <a:lnTo>
                    <a:pt x="1688168" y="2867354"/>
                  </a:lnTo>
                  <a:lnTo>
                    <a:pt x="1642903" y="2875879"/>
                  </a:lnTo>
                  <a:lnTo>
                    <a:pt x="1597147" y="2882911"/>
                  </a:lnTo>
                  <a:lnTo>
                    <a:pt x="1550923" y="2888424"/>
                  </a:lnTo>
                  <a:lnTo>
                    <a:pt x="1504258" y="2892394"/>
                  </a:lnTo>
                  <a:lnTo>
                    <a:pt x="1457175" y="2894794"/>
                  </a:lnTo>
                  <a:lnTo>
                    <a:pt x="1409700" y="2895600"/>
                  </a:lnTo>
                  <a:lnTo>
                    <a:pt x="1362224" y="2894794"/>
                  </a:lnTo>
                  <a:lnTo>
                    <a:pt x="1315141" y="2892394"/>
                  </a:lnTo>
                  <a:lnTo>
                    <a:pt x="1268476" y="2888424"/>
                  </a:lnTo>
                  <a:lnTo>
                    <a:pt x="1222252" y="2882911"/>
                  </a:lnTo>
                  <a:lnTo>
                    <a:pt x="1176496" y="2875879"/>
                  </a:lnTo>
                  <a:lnTo>
                    <a:pt x="1131231" y="2867354"/>
                  </a:lnTo>
                  <a:lnTo>
                    <a:pt x="1086483" y="2857362"/>
                  </a:lnTo>
                  <a:lnTo>
                    <a:pt x="1042275" y="2845927"/>
                  </a:lnTo>
                  <a:lnTo>
                    <a:pt x="998633" y="2833074"/>
                  </a:lnTo>
                  <a:lnTo>
                    <a:pt x="955581" y="2818830"/>
                  </a:lnTo>
                  <a:lnTo>
                    <a:pt x="913144" y="2803220"/>
                  </a:lnTo>
                  <a:lnTo>
                    <a:pt x="871346" y="2786268"/>
                  </a:lnTo>
                  <a:lnTo>
                    <a:pt x="830213" y="2768000"/>
                  </a:lnTo>
                  <a:lnTo>
                    <a:pt x="789769" y="2748442"/>
                  </a:lnTo>
                  <a:lnTo>
                    <a:pt x="750039" y="2727619"/>
                  </a:lnTo>
                  <a:lnTo>
                    <a:pt x="711046" y="2705556"/>
                  </a:lnTo>
                  <a:lnTo>
                    <a:pt x="672817" y="2682279"/>
                  </a:lnTo>
                  <a:lnTo>
                    <a:pt x="635375" y="2657813"/>
                  </a:lnTo>
                  <a:lnTo>
                    <a:pt x="598746" y="2632183"/>
                  </a:lnTo>
                  <a:lnTo>
                    <a:pt x="562954" y="2605414"/>
                  </a:lnTo>
                  <a:lnTo>
                    <a:pt x="528023" y="2577532"/>
                  </a:lnTo>
                  <a:lnTo>
                    <a:pt x="493979" y="2548563"/>
                  </a:lnTo>
                  <a:lnTo>
                    <a:pt x="460846" y="2518531"/>
                  </a:lnTo>
                  <a:lnTo>
                    <a:pt x="428648" y="2487462"/>
                  </a:lnTo>
                  <a:lnTo>
                    <a:pt x="397411" y="2455381"/>
                  </a:lnTo>
                  <a:lnTo>
                    <a:pt x="367159" y="2422314"/>
                  </a:lnTo>
                  <a:lnTo>
                    <a:pt x="337917" y="2388286"/>
                  </a:lnTo>
                  <a:lnTo>
                    <a:pt x="309709" y="2353322"/>
                  </a:lnTo>
                  <a:lnTo>
                    <a:pt x="282560" y="2317448"/>
                  </a:lnTo>
                  <a:lnTo>
                    <a:pt x="256495" y="2280688"/>
                  </a:lnTo>
                  <a:lnTo>
                    <a:pt x="231539" y="2243069"/>
                  </a:lnTo>
                  <a:lnTo>
                    <a:pt x="207716" y="2204616"/>
                  </a:lnTo>
                  <a:lnTo>
                    <a:pt x="185050" y="2165353"/>
                  </a:lnTo>
                  <a:lnTo>
                    <a:pt x="163567" y="2125307"/>
                  </a:lnTo>
                  <a:lnTo>
                    <a:pt x="143291" y="2084503"/>
                  </a:lnTo>
                  <a:lnTo>
                    <a:pt x="124247" y="2042965"/>
                  </a:lnTo>
                  <a:lnTo>
                    <a:pt x="106459" y="2000720"/>
                  </a:lnTo>
                  <a:lnTo>
                    <a:pt x="89953" y="1957792"/>
                  </a:lnTo>
                  <a:lnTo>
                    <a:pt x="74753" y="1914208"/>
                  </a:lnTo>
                  <a:lnTo>
                    <a:pt x="60883" y="1869991"/>
                  </a:lnTo>
                  <a:lnTo>
                    <a:pt x="48368" y="1825169"/>
                  </a:lnTo>
                  <a:lnTo>
                    <a:pt x="37233" y="1779765"/>
                  </a:lnTo>
                  <a:lnTo>
                    <a:pt x="27503" y="1733806"/>
                  </a:lnTo>
                  <a:lnTo>
                    <a:pt x="19202" y="1687316"/>
                  </a:lnTo>
                  <a:lnTo>
                    <a:pt x="12355" y="1640321"/>
                  </a:lnTo>
                  <a:lnTo>
                    <a:pt x="6986" y="1592847"/>
                  </a:lnTo>
                  <a:lnTo>
                    <a:pt x="3121" y="1544918"/>
                  </a:lnTo>
                  <a:lnTo>
                    <a:pt x="784" y="1496561"/>
                  </a:lnTo>
                  <a:lnTo>
                    <a:pt x="0" y="1447800"/>
                  </a:lnTo>
                  <a:close/>
                </a:path>
              </a:pathLst>
            </a:custGeom>
            <a:noFill/>
            <a:ln w="9525" cap="flat" cmpd="sng">
              <a:solidFill>
                <a:srgbClr val="BD4A4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56" name="Google Shape;156;p9"/>
          <p:cNvSpPr txBox="1"/>
          <p:nvPr/>
        </p:nvSpPr>
        <p:spPr>
          <a:xfrm>
            <a:off x="6664832" y="2476880"/>
            <a:ext cx="1811655" cy="166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8161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 03: Doubts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815" marR="508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Put your queries 	in Discussion 	Forum.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815" marR="60325" lvl="0" indent="-285750" algn="l" rtl="0">
              <a:lnSpc>
                <a:spcPct val="117222"/>
              </a:lnSpc>
              <a:spcBef>
                <a:spcPts val="114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Peers and TA to 	answer …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305561" y="5106161"/>
            <a:ext cx="8493760" cy="844550"/>
          </a:xfrm>
          <a:prstGeom prst="rect">
            <a:avLst/>
          </a:prstGeom>
          <a:solidFill>
            <a:srgbClr val="4F81BC"/>
          </a:solidFill>
          <a:ln w="25400" cap="flat" cmpd="sng">
            <a:solidFill>
              <a:srgbClr val="385D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3175" rIns="0" bIns="0" anchor="t" anchorCtr="0">
            <a:spAutoFit/>
          </a:bodyPr>
          <a:lstStyle/>
          <a:p>
            <a:pPr marL="188595" marR="18796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Non-Beginners: </a:t>
            </a:r>
            <a:r>
              <a:rPr lang="en-US" sz="1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can directly start with Step 02 and also use this phase for additional learning which might help in future … You play an important role in Step 3 as well in answering your peer’s queries.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8" name="Google Shape;158;p9"/>
          <p:cNvGrpSpPr/>
          <p:nvPr/>
        </p:nvGrpSpPr>
        <p:grpSpPr>
          <a:xfrm>
            <a:off x="5596128" y="2263165"/>
            <a:ext cx="897648" cy="2215870"/>
            <a:chOff x="5596128" y="2263165"/>
            <a:chExt cx="897648" cy="2215870"/>
          </a:xfrm>
        </p:grpSpPr>
        <p:pic>
          <p:nvPicPr>
            <p:cNvPr id="159" name="Google Shape;159;p9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695188" y="2263165"/>
              <a:ext cx="798588" cy="2346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9"/>
            <p:cNvSpPr/>
            <p:nvPr/>
          </p:nvSpPr>
          <p:spPr>
            <a:xfrm>
              <a:off x="5738622" y="2324861"/>
              <a:ext cx="640715" cy="76200"/>
            </a:xfrm>
            <a:custGeom>
              <a:avLst/>
              <a:gdLst/>
              <a:ahLst/>
              <a:cxnLst/>
              <a:rect l="l" t="t" r="r" b="b"/>
              <a:pathLst>
                <a:path w="640714" h="76200" extrusionOk="0">
                  <a:moveTo>
                    <a:pt x="564261" y="0"/>
                  </a:moveTo>
                  <a:lnTo>
                    <a:pt x="564261" y="76200"/>
                  </a:lnTo>
                  <a:lnTo>
                    <a:pt x="615061" y="50800"/>
                  </a:lnTo>
                  <a:lnTo>
                    <a:pt x="576961" y="50800"/>
                  </a:lnTo>
                  <a:lnTo>
                    <a:pt x="576961" y="25400"/>
                  </a:lnTo>
                  <a:lnTo>
                    <a:pt x="615061" y="25400"/>
                  </a:lnTo>
                  <a:lnTo>
                    <a:pt x="564261" y="0"/>
                  </a:lnTo>
                  <a:close/>
                </a:path>
                <a:path w="640714" h="76200" extrusionOk="0">
                  <a:moveTo>
                    <a:pt x="564261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564261" y="50800"/>
                  </a:lnTo>
                  <a:lnTo>
                    <a:pt x="564261" y="25400"/>
                  </a:lnTo>
                  <a:close/>
                </a:path>
                <a:path w="640714" h="76200" extrusionOk="0">
                  <a:moveTo>
                    <a:pt x="615061" y="25400"/>
                  </a:moveTo>
                  <a:lnTo>
                    <a:pt x="576961" y="25400"/>
                  </a:lnTo>
                  <a:lnTo>
                    <a:pt x="576961" y="50800"/>
                  </a:lnTo>
                  <a:lnTo>
                    <a:pt x="615061" y="50800"/>
                  </a:lnTo>
                  <a:lnTo>
                    <a:pt x="640461" y="38100"/>
                  </a:lnTo>
                  <a:lnTo>
                    <a:pt x="615061" y="25400"/>
                  </a:lnTo>
                  <a:close/>
                </a:path>
              </a:pathLst>
            </a:custGeom>
            <a:solidFill>
              <a:srgbClr val="9BBA58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pic>
          <p:nvPicPr>
            <p:cNvPr id="161" name="Google Shape;161;p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5596128" y="4244365"/>
              <a:ext cx="842784" cy="23467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9"/>
            <p:cNvSpPr/>
            <p:nvPr/>
          </p:nvSpPr>
          <p:spPr>
            <a:xfrm>
              <a:off x="5715762" y="4306061"/>
              <a:ext cx="685800" cy="76200"/>
            </a:xfrm>
            <a:custGeom>
              <a:avLst/>
              <a:gdLst/>
              <a:ahLst/>
              <a:cxnLst/>
              <a:rect l="l" t="t" r="r" b="b"/>
              <a:pathLst>
                <a:path w="685800" h="76200" extrusionOk="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685800" h="76200" extrusionOk="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685800" h="76200" extrusionOk="0">
                  <a:moveTo>
                    <a:pt x="685800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685800" y="50800"/>
                  </a:lnTo>
                  <a:lnTo>
                    <a:pt x="685800" y="25400"/>
                  </a:lnTo>
                  <a:close/>
                </a:path>
              </a:pathLst>
            </a:custGeom>
            <a:solidFill>
              <a:srgbClr val="C0504D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63" name="Google Shape;163;p9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79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Today’s Schedule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0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graphicFrame>
        <p:nvGraphicFramePr>
          <p:cNvPr id="170" name="Google Shape;170;p10"/>
          <p:cNvGraphicFramePr/>
          <p:nvPr>
            <p:extLst>
              <p:ext uri="{D42A27DB-BD31-4B8C-83A1-F6EECF244321}">
                <p14:modId xmlns:p14="http://schemas.microsoft.com/office/powerpoint/2010/main" val="2210550921"/>
              </p:ext>
            </p:extLst>
          </p:nvPr>
        </p:nvGraphicFramePr>
        <p:xfrm>
          <a:off x="1376515" y="1828800"/>
          <a:ext cx="4921413" cy="2804150"/>
        </p:xfrm>
        <a:graphic>
          <a:graphicData uri="http://schemas.openxmlformats.org/drawingml/2006/table">
            <a:tbl>
              <a:tblPr firstRow="1" bandRow="1">
                <a:noFill/>
                <a:tableStyleId>{CE3F17F6-D251-4F55-AD5C-F6E47C79B5C0}</a:tableStyleId>
              </a:tblPr>
              <a:tblGrid>
                <a:gridCol w="4921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solidFill>
                            <a:srgbClr val="C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Today – S1 (5-8 PM)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3810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BF0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8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6555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urier New"/>
                        <a:buChar char="o"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Motivation &amp; Agenda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6555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urier New"/>
                        <a:buChar char="o"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Python Basics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6555" marR="1097915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urier New"/>
                        <a:buChar char="o"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Setting up Python	Environment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376555" marR="1097915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urier New"/>
                        <a:buChar char="o"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Package imports</a:t>
                      </a:r>
                      <a:endParaRPr dirty="0"/>
                    </a:p>
                    <a:p>
                      <a:pPr marL="376555" marR="1097915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urier New"/>
                        <a:buChar char="o"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 Types &amp; Type Casting</a:t>
                      </a:r>
                      <a:endParaRPr dirty="0"/>
                    </a:p>
                    <a:p>
                      <a:pPr marL="376555" marR="1097915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urier New"/>
                        <a:buChar char="o"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Variables, Expressions &amp; Statement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/>
        </p:nvSpPr>
        <p:spPr>
          <a:xfrm>
            <a:off x="383540" y="1443101"/>
            <a:ext cx="8453120" cy="302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Program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5600" marR="5080" lvl="0" indent="-342900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Set	of	instructions	that	perform	a	specific	task	executed	by computer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Required by computer to function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Written by programmer using programming languages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Like C, C++, Java, Python etc.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Executed with compiler and interpreter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1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7" name="Google Shape;177;p11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178" name="Google Shape;178;p11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125" rIns="0" bIns="0" anchor="t" anchorCtr="0">
            <a:spAutoFit/>
          </a:bodyPr>
          <a:lstStyle/>
          <a:p>
            <a:pPr marL="2413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Program &amp; Programming Language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2"/>
          <p:cNvSpPr txBox="1"/>
          <p:nvPr/>
        </p:nvSpPr>
        <p:spPr>
          <a:xfrm>
            <a:off x="383540" y="1516507"/>
            <a:ext cx="176847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Python 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2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125" rIns="0" bIns="0" anchor="t" anchorCtr="0">
            <a:spAutoFit/>
          </a:bodyPr>
          <a:lstStyle/>
          <a:p>
            <a:pPr marL="2413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Python as a Programming Language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1569466" y="5199633"/>
            <a:ext cx="6344285" cy="757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681355" marR="5080" lvl="0" indent="-66929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Worldwide, Python is the most popular language … Source : </a:t>
            </a:r>
            <a:r>
              <a:rPr lang="en-US" sz="2400" u="sng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http://pypl.github.io/PYPL.html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86" name="Google Shape;186;p12"/>
          <p:cNvGrpSpPr/>
          <p:nvPr/>
        </p:nvGrpSpPr>
        <p:grpSpPr>
          <a:xfrm>
            <a:off x="47053" y="2043429"/>
            <a:ext cx="4191635" cy="2938780"/>
            <a:chOff x="47053" y="2043429"/>
            <a:chExt cx="4191635" cy="2938780"/>
          </a:xfrm>
        </p:grpSpPr>
        <p:pic>
          <p:nvPicPr>
            <p:cNvPr id="187" name="Google Shape;187;p1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1815" y="2048255"/>
              <a:ext cx="4181855" cy="292912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12"/>
            <p:cNvSpPr/>
            <p:nvPr/>
          </p:nvSpPr>
          <p:spPr>
            <a:xfrm>
              <a:off x="47053" y="2043429"/>
              <a:ext cx="4191635" cy="2938780"/>
            </a:xfrm>
            <a:custGeom>
              <a:avLst/>
              <a:gdLst/>
              <a:ahLst/>
              <a:cxnLst/>
              <a:rect l="l" t="t" r="r" b="b"/>
              <a:pathLst>
                <a:path w="4191635" h="2938779" extrusionOk="0">
                  <a:moveTo>
                    <a:pt x="0" y="2938653"/>
                  </a:moveTo>
                  <a:lnTo>
                    <a:pt x="4191380" y="2938653"/>
                  </a:lnTo>
                  <a:lnTo>
                    <a:pt x="4191380" y="0"/>
                  </a:lnTo>
                  <a:lnTo>
                    <a:pt x="0" y="0"/>
                  </a:lnTo>
                  <a:lnTo>
                    <a:pt x="0" y="2938653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189" name="Google Shape;189;p12"/>
          <p:cNvGrpSpPr/>
          <p:nvPr/>
        </p:nvGrpSpPr>
        <p:grpSpPr>
          <a:xfrm>
            <a:off x="4362958" y="2677414"/>
            <a:ext cx="4733925" cy="1670685"/>
            <a:chOff x="4362958" y="2677414"/>
            <a:chExt cx="4733925" cy="1670685"/>
          </a:xfrm>
        </p:grpSpPr>
        <p:pic>
          <p:nvPicPr>
            <p:cNvPr id="190" name="Google Shape;190;p1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387845" y="2727960"/>
              <a:ext cx="4687621" cy="157987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1" name="Google Shape;191;p12"/>
            <p:cNvSpPr/>
            <p:nvPr/>
          </p:nvSpPr>
          <p:spPr>
            <a:xfrm>
              <a:off x="4362958" y="2677414"/>
              <a:ext cx="4733925" cy="1670685"/>
            </a:xfrm>
            <a:custGeom>
              <a:avLst/>
              <a:gdLst/>
              <a:ahLst/>
              <a:cxnLst/>
              <a:rect l="l" t="t" r="r" b="b"/>
              <a:pathLst>
                <a:path w="4733925" h="1670685" extrusionOk="0">
                  <a:moveTo>
                    <a:pt x="0" y="1670685"/>
                  </a:moveTo>
                  <a:lnTo>
                    <a:pt x="4733924" y="1670685"/>
                  </a:lnTo>
                  <a:lnTo>
                    <a:pt x="4733924" y="0"/>
                  </a:lnTo>
                  <a:lnTo>
                    <a:pt x="0" y="0"/>
                  </a:lnTo>
                  <a:lnTo>
                    <a:pt x="0" y="1670685"/>
                  </a:lnTo>
                  <a:close/>
                </a:path>
              </a:pathLst>
            </a:cu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93" name="Google Shape;193;p12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>
            <a:spLocks noGrp="1"/>
          </p:cNvSpPr>
          <p:nvPr>
            <p:ph type="body" idx="1"/>
          </p:nvPr>
        </p:nvSpPr>
        <p:spPr>
          <a:xfrm>
            <a:off x="459740" y="1472945"/>
            <a:ext cx="3040544" cy="4273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1270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Python</a:t>
            </a:r>
            <a:endParaRPr sz="1800" dirty="0"/>
          </a:p>
          <a:p>
            <a:pPr marL="354330" marR="6350" lvl="0" indent="-341630" rtl="0">
              <a:lnSpc>
                <a:spcPct val="107916"/>
              </a:lnSpc>
              <a:spcBef>
                <a:spcPts val="62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u="none" dirty="0">
                <a:solidFill>
                  <a:srgbClr val="000000"/>
                </a:solidFill>
              </a:rPr>
              <a:t>Designed by Guido van 	Rossum around 1990</a:t>
            </a:r>
            <a:endParaRPr sz="1800" dirty="0"/>
          </a:p>
          <a:p>
            <a:pPr marL="354330" marR="5080" lvl="0" indent="-341630" rtl="0">
              <a:lnSpc>
                <a:spcPct val="107916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u="none" dirty="0">
                <a:solidFill>
                  <a:srgbClr val="000000"/>
                </a:solidFill>
              </a:rPr>
              <a:t>Not	just	a	scripting 	language</a:t>
            </a:r>
            <a:endParaRPr sz="1800" dirty="0"/>
          </a:p>
          <a:p>
            <a:pPr marL="354330" lvl="0" indent="-341630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u="none" dirty="0">
                <a:solidFill>
                  <a:srgbClr val="000000"/>
                </a:solidFill>
              </a:rPr>
              <a:t>Easy to learn, read, use</a:t>
            </a:r>
            <a:endParaRPr sz="1800" dirty="0"/>
          </a:p>
          <a:p>
            <a:pPr marL="354330" marR="5715" lvl="0" indent="-341630" rtl="0">
              <a:lnSpc>
                <a:spcPct val="107916"/>
              </a:lnSpc>
              <a:spcBef>
                <a:spcPts val="62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u="none" dirty="0">
                <a:solidFill>
                  <a:srgbClr val="000000"/>
                </a:solidFill>
              </a:rPr>
              <a:t>Extensible	(add	new 	modules)</a:t>
            </a:r>
            <a:endParaRPr sz="1800" dirty="0"/>
          </a:p>
          <a:p>
            <a:pPr marL="354330" lvl="0" indent="-341630" rtl="0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u="none" dirty="0">
                <a:solidFill>
                  <a:srgbClr val="000000"/>
                </a:solidFill>
              </a:rPr>
              <a:t>Highly readable</a:t>
            </a:r>
            <a:endParaRPr sz="1800" dirty="0"/>
          </a:p>
          <a:p>
            <a:pPr marL="354330" lvl="0" indent="-341630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u="none" dirty="0">
                <a:solidFill>
                  <a:srgbClr val="000000"/>
                </a:solidFill>
              </a:rPr>
              <a:t>Latest Version 3.11.x</a:t>
            </a:r>
            <a:endParaRPr sz="1800" dirty="0"/>
          </a:p>
          <a:p>
            <a:pPr marL="354330" marR="5715" lvl="0" indent="-341630" rtl="0">
              <a:lnSpc>
                <a:spcPct val="107916"/>
              </a:lnSpc>
              <a:spcBef>
                <a:spcPts val="61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u="none" dirty="0">
                <a:solidFill>
                  <a:srgbClr val="000000"/>
                </a:solidFill>
              </a:rPr>
              <a:t>Most	fond	of	language 	for Data Scientists</a:t>
            </a:r>
            <a:endParaRPr sz="1800" dirty="0"/>
          </a:p>
        </p:txBody>
      </p:sp>
      <p:sp>
        <p:nvSpPr>
          <p:cNvPr id="199" name="Google Shape;199;p13"/>
          <p:cNvSpPr txBox="1"/>
          <p:nvPr/>
        </p:nvSpPr>
        <p:spPr>
          <a:xfrm>
            <a:off x="5128640" y="6025394"/>
            <a:ext cx="1164590" cy="2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42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(Hopefully)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13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01" name="Google Shape;201;p13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125" rIns="0" bIns="0" anchor="t" anchorCtr="0">
            <a:spAutoFit/>
          </a:bodyPr>
          <a:lstStyle/>
          <a:p>
            <a:pPr marL="2413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Python as a Programming Language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4384675" y="1441450"/>
            <a:ext cx="4227195" cy="407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Touchy Feel Properties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Open Source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lvl="1" indent="-28575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copyrighted but use not restricted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5080" lvl="1" indent="-287019" algn="l" rtl="0">
              <a:lnSpc>
                <a:spcPct val="108000"/>
              </a:lnSpc>
              <a:spcBef>
                <a:spcPts val="515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owned by independent non-profit, PSF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Mature (30+ years old)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Supportive user community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lvl="1" indent="-285750" algn="l" rtl="0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plenty of good books, too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Active user community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Simple design, easy to learn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SzPts val="19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reads like “pseudo-code”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SzPts val="19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Suitable as first language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SzPts val="1900"/>
              <a:buFont typeface="Courier New"/>
              <a:buChar char="o"/>
            </a:pPr>
            <a:r>
              <a:rPr lang="en-US" sz="1800" dirty="0">
                <a:latin typeface="Times New Roman"/>
                <a:ea typeface="Times New Roman"/>
                <a:cs typeface="Times New Roman"/>
                <a:sym typeface="Times New Roman"/>
              </a:rPr>
              <a:t>Suitable as last language :-)</a:t>
            </a:r>
            <a:endParaRPr sz="18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Python Applications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700" y="1833296"/>
            <a:ext cx="8014018" cy="343964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4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11" name="Google Shape;211;p14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Python Ecosystem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5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18" name="Google Shape;218;p15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219" name="Google Shape;219;p15"/>
          <p:cNvSpPr txBox="1"/>
          <p:nvPr/>
        </p:nvSpPr>
        <p:spPr>
          <a:xfrm>
            <a:off x="383540" y="1443101"/>
            <a:ext cx="3820160" cy="1343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 of Python World 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Core Python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Distributions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5"/>
          <p:cNvSpPr txBox="1"/>
          <p:nvPr/>
        </p:nvSpPr>
        <p:spPr>
          <a:xfrm>
            <a:off x="302894" y="3442429"/>
            <a:ext cx="2923540" cy="902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07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Frameworks / IDEs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Third party Libraries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5"/>
          <p:cNvSpPr txBox="1"/>
          <p:nvPr/>
        </p:nvSpPr>
        <p:spPr>
          <a:xfrm>
            <a:off x="3889375" y="2863977"/>
            <a:ext cx="1177290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Python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5"/>
          <p:cNvSpPr txBox="1"/>
          <p:nvPr/>
        </p:nvSpPr>
        <p:spPr>
          <a:xfrm>
            <a:off x="4346575" y="3138296"/>
            <a:ext cx="3735704" cy="1123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Programming Language itself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84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Some standard modules are available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815" marR="508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Other packages needs to be explicitly 	installed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5"/>
          <p:cNvSpPr txBox="1"/>
          <p:nvPr/>
        </p:nvSpPr>
        <p:spPr>
          <a:xfrm>
            <a:off x="3889375" y="4235957"/>
            <a:ext cx="4664710" cy="1946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Distribution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Python + packages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Majority of packages, libraries are already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available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Package management is simplified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28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Anaconda from Continuum Analytics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28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IPython and its IPyKit variant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Python Ecosystem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1069644" y="6070619"/>
            <a:ext cx="2226945" cy="309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Noto Sans Symbols"/>
                <a:ea typeface="Noto Sans Symbols"/>
                <a:cs typeface="Noto Sans Symbols"/>
                <a:sym typeface="Noto Sans Symbols"/>
              </a:rPr>
              <a:t>✔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Jupyter Notebooks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6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31" name="Google Shape;231;p16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232" name="Google Shape;232;p16"/>
          <p:cNvSpPr txBox="1"/>
          <p:nvPr/>
        </p:nvSpPr>
        <p:spPr>
          <a:xfrm>
            <a:off x="4956175" y="1531541"/>
            <a:ext cx="3512185" cy="161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63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Third party Libraries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015" marR="230504" lvl="0" indent="-285750" algn="l" rtl="0">
              <a:lnSpc>
                <a:spcPct val="108000"/>
              </a:lnSpc>
              <a:spcBef>
                <a:spcPts val="525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Makes life of developers 	very simple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015" marR="5080" lvl="0" indent="-285750" algn="l" rtl="0">
              <a:lnSpc>
                <a:spcPct val="108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Just need to know the right 	library to carry out a task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5814440" y="3120846"/>
            <a:ext cx="2369185" cy="2709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3800" rIns="0" bIns="0" anchor="t" anchorCtr="0">
            <a:spAutoFit/>
          </a:bodyPr>
          <a:lstStyle/>
          <a:p>
            <a:pPr marL="297180" lvl="0" indent="-28448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NumPy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Scipy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Pandas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Matplotlib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Seaborn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44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Bokeh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ScikitLearn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97180" lvl="0" indent="-28448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And List goes on 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154939" y="1471930"/>
            <a:ext cx="4650105" cy="459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Frameworks / IDEs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Use frameworks to create code and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develop applications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015" marR="508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Provides a defined structure to the 	developers so that they can focus on 	the core logic of the application rather 	than on other elements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lvl="0" indent="-28575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Python web framework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28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Django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28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Web2py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28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Flask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56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Python IDEs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28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IDLE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28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PyCharm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12850" lvl="1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✔"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Spyder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Python Installation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7"/>
          <p:cNvSpPr txBox="1"/>
          <p:nvPr/>
        </p:nvSpPr>
        <p:spPr>
          <a:xfrm>
            <a:off x="688340" y="6056811"/>
            <a:ext cx="1800860" cy="31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15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Google Collab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p17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42" name="Google Shape;242;p17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231140" y="1397595"/>
            <a:ext cx="7809230" cy="4631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87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 Ways :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Install Python directly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Install the Python language with installer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Need to install other packages explicitly using pip install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u="sng" dirty="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https://www.python.org/downloads/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2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Use Python distribution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marR="5080" lvl="1" indent="-287019" algn="l" rtl="0">
              <a:lnSpc>
                <a:spcPct val="108000"/>
              </a:lnSpc>
              <a:spcBef>
                <a:spcPts val="53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open-source Anaconda Distribution is the easiest way to perform Python coding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04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Works on Linux, Windows, and Mac OS X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</a:pPr>
            <a:r>
              <a:rPr lang="en-US" sz="2000" u="sng" dirty="0">
                <a:solidFill>
                  <a:srgbClr val="80008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https://docs.anaconda.com/anaconda/install/windows/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Use Cloud based services</a:t>
            </a: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6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The simplest of all but needs internet connectivity to use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756285" lvl="1" indent="-286385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Microsoft Azure Notebooks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"/>
          <p:cNvSpPr txBox="1"/>
          <p:nvPr/>
        </p:nvSpPr>
        <p:spPr>
          <a:xfrm>
            <a:off x="241198" y="1470405"/>
            <a:ext cx="2032000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Common IDE’s: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8"/>
          <p:cNvSpPr txBox="1">
            <a:spLocks noGrp="1"/>
          </p:cNvSpPr>
          <p:nvPr>
            <p:ph type="title"/>
          </p:nvPr>
        </p:nvSpPr>
        <p:spPr>
          <a:xfrm>
            <a:off x="154938" y="150063"/>
            <a:ext cx="8595771" cy="1213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04125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Integrated Development Environments (IDE) for Python</a:t>
            </a:r>
            <a:endParaRPr sz="3600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331" y="2261616"/>
            <a:ext cx="1458468" cy="1458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70657" y="2621339"/>
            <a:ext cx="3217108" cy="7649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58000" y="2142744"/>
            <a:ext cx="1476755" cy="1476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29145" y="4752799"/>
            <a:ext cx="1288472" cy="1508624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8"/>
          <p:cNvSpPr txBox="1"/>
          <p:nvPr/>
        </p:nvSpPr>
        <p:spPr>
          <a:xfrm>
            <a:off x="241198" y="4104513"/>
            <a:ext cx="7686675" cy="200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latin typeface="Times New Roman"/>
                <a:ea typeface="Times New Roman"/>
                <a:cs typeface="Times New Roman"/>
                <a:sym typeface="Times New Roman"/>
              </a:rPr>
              <a:t>Our Favourite (For WILP Programme):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68015" marR="5715" lvl="0" indent="-341629" algn="just" rtl="0">
              <a:lnSpc>
                <a:spcPct val="100000"/>
              </a:lnSpc>
              <a:spcBef>
                <a:spcPts val="1930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.py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is a regular python file. It's plain text and 	contains just your code.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111500" marR="5080" lvl="0" indent="-285750" algn="just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SzPts val="1800"/>
              <a:buFont typeface="Courier New"/>
              <a:buChar char="o"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.ipynb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is a python notebook and it contains the 	notebook code, the execution results and other 	internal settings in a specific format.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8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56" name="Google Shape;256;p18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9"/>
          <p:cNvSpPr txBox="1"/>
          <p:nvPr/>
        </p:nvSpPr>
        <p:spPr>
          <a:xfrm>
            <a:off x="231140" y="1473073"/>
            <a:ext cx="7620000" cy="4038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354965" lvl="0" indent="-34226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print() can be used to output a message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input() can be used to enter an input to the python program.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# can be used to provide comments.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965" lvl="0" indent="-3422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(triple quotes) can be used to write documentation.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270"/>
              </a:spcBef>
              <a:spcAft>
                <a:spcPts val="0"/>
              </a:spcAft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Let’s see how to launch Jupyter Notebook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See the basics of Notebook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54330" lvl="0" indent="-341630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Courier New"/>
              <a:buChar char="o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Practice some I/O statements and comments.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9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63" name="Google Shape;263;p19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264" name="Google Shape;264;p19"/>
          <p:cNvSpPr txBox="1">
            <a:spLocks noGrp="1"/>
          </p:cNvSpPr>
          <p:nvPr>
            <p:ph type="title"/>
          </p:nvPr>
        </p:nvSpPr>
        <p:spPr>
          <a:xfrm>
            <a:off x="383540" y="379221"/>
            <a:ext cx="525970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Input / Output with Python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 txBox="1"/>
          <p:nvPr/>
        </p:nvSpPr>
        <p:spPr>
          <a:xfrm>
            <a:off x="231140" y="1281430"/>
            <a:ext cx="8683625" cy="295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57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Imports</a:t>
            </a:r>
            <a:r>
              <a:rPr lang="en-US" sz="2400" u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900" marR="5080" lvl="0" indent="-457200" algn="just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Import in Python is similar to #include in C/C++. Python modules can get access to code from another  module by importing the file/function using import.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lvl="0" indent="-456565" algn="just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Ex: import math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marR="6502400" lvl="0" indent="-456565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print(math.pi) </a:t>
            </a:r>
            <a:r>
              <a:rPr lang="en-US" sz="24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20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231140" y="4281296"/>
            <a:ext cx="8683625" cy="2074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469900" marR="508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Python variable is a reserved memory location to store values. In other words, variables are containers for storing data values.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lvl="0" indent="-4565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 i="1">
                <a:latin typeface="Times New Roman"/>
                <a:ea typeface="Times New Roman"/>
                <a:cs typeface="Times New Roman"/>
                <a:sym typeface="Times New Roman"/>
              </a:rPr>
              <a:t>Python has no command for declaring a variable.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lvl="0" indent="-456565" algn="l" rtl="0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variable is created the moment you first assign a value to it.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69265" lvl="0" indent="-456565" algn="l" rtl="0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Clr>
                <a:srgbClr val="0F1141"/>
              </a:buClr>
              <a:buSzPts val="2400"/>
              <a:buFont typeface="Noto Sans Symbols"/>
              <a:buChar char="⮚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Ex: a = 100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0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41850" rIns="0" bIns="0" anchor="t" anchorCtr="0">
            <a:spAutoFit/>
          </a:bodyPr>
          <a:lstStyle/>
          <a:p>
            <a:pPr marL="2413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Basic Code Constructs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0"/>
          <p:cNvSpPr txBox="1"/>
          <p:nvPr/>
        </p:nvSpPr>
        <p:spPr>
          <a:xfrm>
            <a:off x="8868918" y="6176568"/>
            <a:ext cx="196215" cy="208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1"/>
          <p:cNvSpPr txBox="1">
            <a:spLocks noGrp="1"/>
          </p:cNvSpPr>
          <p:nvPr>
            <p:ph type="title"/>
          </p:nvPr>
        </p:nvSpPr>
        <p:spPr>
          <a:xfrm>
            <a:off x="307340" y="453897"/>
            <a:ext cx="427228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Data Types in Python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218" y="1609372"/>
            <a:ext cx="6990716" cy="478278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/>
        </p:nvSpPr>
        <p:spPr>
          <a:xfrm>
            <a:off x="7553070" y="1295780"/>
            <a:ext cx="1016635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Immutable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1"/>
          <p:cNvSpPr/>
          <p:nvPr/>
        </p:nvSpPr>
        <p:spPr>
          <a:xfrm>
            <a:off x="7932673" y="2362485"/>
            <a:ext cx="290195" cy="300990"/>
          </a:xfrm>
          <a:custGeom>
            <a:avLst/>
            <a:gdLst/>
            <a:ahLst/>
            <a:cxnLst/>
            <a:rect l="l" t="t" r="r" b="b"/>
            <a:pathLst>
              <a:path w="290195" h="300989" extrusionOk="0">
                <a:moveTo>
                  <a:pt x="264626" y="0"/>
                </a:moveTo>
                <a:lnTo>
                  <a:pt x="103904" y="224227"/>
                </a:lnTo>
                <a:lnTo>
                  <a:pt x="26682" y="107480"/>
                </a:lnTo>
                <a:lnTo>
                  <a:pt x="0" y="145006"/>
                </a:lnTo>
                <a:lnTo>
                  <a:pt x="102648" y="300668"/>
                </a:lnTo>
                <a:lnTo>
                  <a:pt x="129645" y="263606"/>
                </a:lnTo>
                <a:lnTo>
                  <a:pt x="290053" y="38915"/>
                </a:lnTo>
                <a:lnTo>
                  <a:pt x="264626" y="0"/>
                </a:lnTo>
                <a:close/>
              </a:path>
            </a:pathLst>
          </a:custGeom>
          <a:solidFill>
            <a:srgbClr val="6F2F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2" name="Google Shape;282;p21"/>
          <p:cNvSpPr/>
          <p:nvPr/>
        </p:nvSpPr>
        <p:spPr>
          <a:xfrm>
            <a:off x="7932673" y="1716309"/>
            <a:ext cx="290195" cy="300990"/>
          </a:xfrm>
          <a:custGeom>
            <a:avLst/>
            <a:gdLst/>
            <a:ahLst/>
            <a:cxnLst/>
            <a:rect l="l" t="t" r="r" b="b"/>
            <a:pathLst>
              <a:path w="290195" h="300989" extrusionOk="0">
                <a:moveTo>
                  <a:pt x="264626" y="0"/>
                </a:moveTo>
                <a:lnTo>
                  <a:pt x="103904" y="224227"/>
                </a:lnTo>
                <a:lnTo>
                  <a:pt x="26682" y="107480"/>
                </a:lnTo>
                <a:lnTo>
                  <a:pt x="0" y="145006"/>
                </a:lnTo>
                <a:lnTo>
                  <a:pt x="102648" y="300668"/>
                </a:lnTo>
                <a:lnTo>
                  <a:pt x="129645" y="263606"/>
                </a:lnTo>
                <a:lnTo>
                  <a:pt x="290053" y="38915"/>
                </a:lnTo>
                <a:lnTo>
                  <a:pt x="264626" y="0"/>
                </a:lnTo>
                <a:close/>
              </a:path>
            </a:pathLst>
          </a:custGeom>
          <a:solidFill>
            <a:srgbClr val="6F2F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3" name="Google Shape;283;p21"/>
          <p:cNvSpPr/>
          <p:nvPr/>
        </p:nvSpPr>
        <p:spPr>
          <a:xfrm>
            <a:off x="7932673" y="3721892"/>
            <a:ext cx="290195" cy="300990"/>
          </a:xfrm>
          <a:custGeom>
            <a:avLst/>
            <a:gdLst/>
            <a:ahLst/>
            <a:cxnLst/>
            <a:rect l="l" t="t" r="r" b="b"/>
            <a:pathLst>
              <a:path w="290195" h="300989" extrusionOk="0">
                <a:moveTo>
                  <a:pt x="264626" y="0"/>
                </a:moveTo>
                <a:lnTo>
                  <a:pt x="103904" y="224227"/>
                </a:lnTo>
                <a:lnTo>
                  <a:pt x="26682" y="107481"/>
                </a:lnTo>
                <a:lnTo>
                  <a:pt x="0" y="145006"/>
                </a:lnTo>
                <a:lnTo>
                  <a:pt x="102648" y="300668"/>
                </a:lnTo>
                <a:lnTo>
                  <a:pt x="129645" y="263606"/>
                </a:lnTo>
                <a:lnTo>
                  <a:pt x="290053" y="38915"/>
                </a:lnTo>
                <a:lnTo>
                  <a:pt x="264626" y="0"/>
                </a:lnTo>
                <a:close/>
              </a:path>
            </a:pathLst>
          </a:custGeom>
          <a:solidFill>
            <a:srgbClr val="6F2F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4" name="Google Shape;284;p21"/>
          <p:cNvSpPr/>
          <p:nvPr/>
        </p:nvSpPr>
        <p:spPr>
          <a:xfrm>
            <a:off x="7932673" y="5791484"/>
            <a:ext cx="290195" cy="300990"/>
          </a:xfrm>
          <a:custGeom>
            <a:avLst/>
            <a:gdLst/>
            <a:ahLst/>
            <a:cxnLst/>
            <a:rect l="l" t="t" r="r" b="b"/>
            <a:pathLst>
              <a:path w="290195" h="300989" extrusionOk="0">
                <a:moveTo>
                  <a:pt x="264626" y="0"/>
                </a:moveTo>
                <a:lnTo>
                  <a:pt x="103904" y="224227"/>
                </a:lnTo>
                <a:lnTo>
                  <a:pt x="26682" y="107481"/>
                </a:lnTo>
                <a:lnTo>
                  <a:pt x="0" y="145006"/>
                </a:lnTo>
                <a:lnTo>
                  <a:pt x="102648" y="300668"/>
                </a:lnTo>
                <a:lnTo>
                  <a:pt x="129645" y="263606"/>
                </a:lnTo>
                <a:lnTo>
                  <a:pt x="290053" y="38915"/>
                </a:lnTo>
                <a:lnTo>
                  <a:pt x="264626" y="0"/>
                </a:lnTo>
                <a:close/>
              </a:path>
            </a:pathLst>
          </a:custGeom>
          <a:solidFill>
            <a:srgbClr val="6F2F9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5" name="Google Shape;285;p21"/>
          <p:cNvSpPr txBox="1"/>
          <p:nvPr/>
        </p:nvSpPr>
        <p:spPr>
          <a:xfrm>
            <a:off x="459740" y="5284470"/>
            <a:ext cx="1896745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50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type() can be used To find the data type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6" name="Google Shape;286;p21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87" name="Google Shape;287;p21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2"/>
          <p:cNvSpPr txBox="1">
            <a:spLocks noGrp="1"/>
          </p:cNvSpPr>
          <p:nvPr>
            <p:ph type="title"/>
          </p:nvPr>
        </p:nvSpPr>
        <p:spPr>
          <a:xfrm>
            <a:off x="307340" y="453897"/>
            <a:ext cx="4272280" cy="57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Data Types in Python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2517394" y="5785205"/>
            <a:ext cx="3580129" cy="29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i="1">
                <a:latin typeface="Times New Roman"/>
                <a:ea typeface="Times New Roman"/>
                <a:cs typeface="Times New Roman"/>
                <a:sym typeface="Times New Roman"/>
              </a:rPr>
              <a:t>type() can be used to find the data type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4" name="Google Shape;29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1565147"/>
            <a:ext cx="8686800" cy="397002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2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96" name="Google Shape;296;p22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6422" y="2401711"/>
            <a:ext cx="2801761" cy="2319161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3"/>
          <p:cNvSpPr txBox="1">
            <a:spLocks noGrp="1"/>
          </p:cNvSpPr>
          <p:nvPr>
            <p:ph type="title"/>
          </p:nvPr>
        </p:nvSpPr>
        <p:spPr>
          <a:xfrm>
            <a:off x="1842642" y="4821682"/>
            <a:ext cx="5457825" cy="391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Post your queries in the Discussion Forum!!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3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304" name="Google Shape;304;p23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4"/>
          <p:cNvSpPr txBox="1">
            <a:spLocks noGrp="1"/>
          </p:cNvSpPr>
          <p:nvPr>
            <p:ph type="title"/>
          </p:nvPr>
        </p:nvSpPr>
        <p:spPr>
          <a:xfrm>
            <a:off x="154939" y="150063"/>
            <a:ext cx="6142990" cy="11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89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Feedback</a:t>
            </a:r>
            <a:endParaRPr/>
          </a:p>
        </p:txBody>
      </p:sp>
      <p:pic>
        <p:nvPicPr>
          <p:cNvPr id="310" name="Google Shape;31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325" y="1533525"/>
            <a:ext cx="5905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325" y="2521076"/>
            <a:ext cx="5905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325" y="3508628"/>
            <a:ext cx="590550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54608" y="1552575"/>
            <a:ext cx="5238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4608" y="3527678"/>
            <a:ext cx="5238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11758" y="2521076"/>
            <a:ext cx="381000" cy="6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4"/>
          <p:cNvSpPr txBox="1"/>
          <p:nvPr/>
        </p:nvSpPr>
        <p:spPr>
          <a:xfrm>
            <a:off x="1803019" y="1687144"/>
            <a:ext cx="445134" cy="138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: 5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None/>
            </a:pP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marL="17145" lvl="0" indent="0" algn="l" rtl="0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: 3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4"/>
          <p:cNvSpPr txBox="1">
            <a:spLocks noGrp="1"/>
          </p:cNvSpPr>
          <p:nvPr>
            <p:ph type="sldNum" idx="12"/>
          </p:nvPr>
        </p:nvSpPr>
        <p:spPr>
          <a:xfrm>
            <a:off x="8843518" y="6191005"/>
            <a:ext cx="259715" cy="196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318" name="Google Shape;318;p24"/>
          <p:cNvSpPr txBox="1">
            <a:spLocks noGrp="1"/>
          </p:cNvSpPr>
          <p:nvPr>
            <p:ph type="ftr" idx="11"/>
          </p:nvPr>
        </p:nvSpPr>
        <p:spPr>
          <a:xfrm>
            <a:off x="4585842" y="6639430"/>
            <a:ext cx="4488180" cy="182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Arial"/>
                <a:ea typeface="Arial"/>
                <a:cs typeface="Arial"/>
                <a:sym typeface="Arial"/>
              </a:rPr>
              <a:t>BITS </a:t>
            </a:r>
            <a:r>
              <a:rPr lang="en-US"/>
              <a:t>Pilani, Deemed to be University under Section 3 of UGC Act, 1956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1807845" y="3557397"/>
            <a:ext cx="440055" cy="45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: 1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4"/>
          <p:cNvSpPr txBox="1">
            <a:spLocks noGrp="1"/>
          </p:cNvSpPr>
          <p:nvPr>
            <p:ph type="body" idx="1"/>
          </p:nvPr>
        </p:nvSpPr>
        <p:spPr>
          <a:xfrm>
            <a:off x="4424553" y="3128213"/>
            <a:ext cx="4104004" cy="2321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757555" marR="5080" lvl="0" indent="-1543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 for your time &amp; attention !</a:t>
            </a:r>
            <a:endParaRPr dirty="0"/>
          </a:p>
          <a:p>
            <a:r>
              <a:rPr lang="en-US" sz="1400" b="1" dirty="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</a:rPr>
              <a:t>Contact </a:t>
            </a:r>
            <a:r>
              <a:rPr lang="en-US" sz="1400" b="1" u="sng" dirty="0">
                <a:solidFill>
                  <a:srgbClr val="C0504D"/>
                </a:solidFill>
                <a:latin typeface="Arial"/>
                <a:ea typeface="Arial"/>
                <a:cs typeface="Arial"/>
                <a:sym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en-IN" sz="1400" b="1" dirty="0">
                <a:solidFill>
                  <a:srgbClr val="C0504D"/>
                </a:solidFill>
                <a:latin typeface="Arial"/>
                <a:cs typeface="Arial"/>
              </a:rPr>
              <a:t>km.sameera@wilp.bits-pilani.ac.in</a:t>
            </a:r>
          </a:p>
          <a:p>
            <a:br>
              <a:rPr lang="en-IN" sz="1400" dirty="0"/>
            </a:br>
            <a:endParaRPr sz="14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1706</Words>
  <Application>Microsoft Office PowerPoint</Application>
  <PresentationFormat>On-screen Show (4:3)</PresentationFormat>
  <Paragraphs>249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Courier New</vt:lpstr>
      <vt:lpstr>Noto Sans Symbols</vt:lpstr>
      <vt:lpstr>Times New Roman</vt:lpstr>
      <vt:lpstr>Arial</vt:lpstr>
      <vt:lpstr>Carlito</vt:lpstr>
      <vt:lpstr>Office Theme</vt:lpstr>
      <vt:lpstr>PowerPoint Presentation</vt:lpstr>
      <vt:lpstr>Agenda for CS #1</vt:lpstr>
      <vt:lpstr>Ground Rules!</vt:lpstr>
      <vt:lpstr>Motivation for this course ?</vt:lpstr>
      <vt:lpstr>Course Objectives</vt:lpstr>
      <vt:lpstr>Courseware</vt:lpstr>
      <vt:lpstr>Text Books</vt:lpstr>
      <vt:lpstr>Evaluation Components</vt:lpstr>
      <vt:lpstr>Pedagogy for this Course</vt:lpstr>
      <vt:lpstr>Today’s Schedule</vt:lpstr>
      <vt:lpstr>Program &amp; Programming Language</vt:lpstr>
      <vt:lpstr>Python as a Programming Language</vt:lpstr>
      <vt:lpstr>Python as a Programming Language</vt:lpstr>
      <vt:lpstr>Python Applications</vt:lpstr>
      <vt:lpstr>Python Ecosystem</vt:lpstr>
      <vt:lpstr>Python Ecosystem</vt:lpstr>
      <vt:lpstr>Python Installation</vt:lpstr>
      <vt:lpstr>Integrated Development Environments (IDE) for Python</vt:lpstr>
      <vt:lpstr>Input / Output with Python</vt:lpstr>
      <vt:lpstr>Basic Code Constructs</vt:lpstr>
      <vt:lpstr>Data Types in Python</vt:lpstr>
      <vt:lpstr>Data Types in Python</vt:lpstr>
      <vt:lpstr>Post your queries in the Discussion Forum!!</vt:lpstr>
      <vt:lpstr>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cp:lastModifiedBy>SAMEERA K M</cp:lastModifiedBy>
  <cp:revision>1</cp:revision>
  <dcterms:created xsi:type="dcterms:W3CDTF">2024-05-03T20:36:35Z</dcterms:created>
  <dcterms:modified xsi:type="dcterms:W3CDTF">2026-04-17T05:34:19Z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2023-10-28T00:00:00Z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2024-05-03T00:00:00Z</vt:filetime>
  </property>
  <property fmtid="{D5CDD505-2E9C-101B-9397-08002B2CF9AE}" pid="5" name="Producer">
    <vt:lpwstr>3-Heights(TM) PDF Security Shell 4.8.25.2 (http://www.pdf-tools.com)</vt:lpwstr>
  </property>
</Properties>
</file>